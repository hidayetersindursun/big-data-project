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Herkese merhaba. Biz Azmi Yağlı, Abdullah Zengin ve Hidayet Ersin Dursun olarak Big Data dersi final projemiz GıdaRadar'ı sunuyoruz. GıdaRadar, Türkiye'de gıda tedarik zincirinin şeffaflığını ölçen bir büyük veri motoru. Temel sorumuz şu: bir ürün haldeki toptan fiyatından market rafına gelene kadar fiyatı nasıl değişiyor, bu marj nerede, ne zaman, neden açılıyor? Projede toptan ile perakende arasındaki marjı, asimetrik fiyat geçişini yani Rockets and Feathers etkisini, hava şoklarının fiyata yansıma hızını ve şehirler arası fiyat eşitsizliğini analiz ettik. Sunum boyunca önce problemi ve amacı, sonra veri toplama ve mimariyi, ardından AWS üzerinde çalıştırdığımız pipeline'ı ve en sonunda gerçek analiz sonuçlarımızı anlatacağız. Belirtmek isteriz: çalışmamızda yapay zeka araçlarından yararlandık, bunu kaynakça slaytında da not ettik.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Ekibimiz üç kişiden oluşuyor ve projenin hem veri mühendisliği hem de veri bilimi tarafını birlikte taşıdık. Azmi veri toplama ve scraping tarafına, NiFi ve Kafka ile ham verinin S3 Bronze katmanına akmasına odaklandı. Abdullah medallion mimarisini, Spark ile Silver katmanını ve EMR üzerindeki pipeline orkestrasyonunu üstlendi. Ben Hidayet ise entity resolution, Gold analiz tabloları, tahminleme ve dashboard tarafını yürüttüm. Pratikte sınırlar keskin değildi; üç kişi olduğumuz için herkes her katmana dokundu. Bu yüzden sunumu da uçtan uca, ortak bir anlatı olarak hazırladık.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Projemizin çıkış noktası çok somut bir gözlem. Bir domates haldeki toptan satıştan yaklaşık 15 lira civarında çıkıyor ama market rafına 30, 40 liraya ulaşıyor. Bu farkın nereden geldiğini kimse net ölçemiyor. Üç temel problem var. Birincisi kara kutu: toptan fiyatı ile perakende rafiyatını birbirine bağlayan kamuya açık tek bir veri seti yok, dolayısıyla marj yapısal olarak görünmez. İkincisi Rockets and Feathers etkisi: maliyet artınca raf fiyatı roket gibi fırlıyor, maliyet düşünce tüy gibi yavaşça iniyor; yani asimetrik bir geçiş var. Üçüncüsü mekânsal spekülasyon: aynı hal giriş fiyatına sahip ürün farklı illerde çok farklı fiyatlanıyor ve bu lokasyon bazlı fiyatlama gücü hiç ölçülmüyor. Gıda enflasyonu ülke gündeminin en tepesinde, ama tarla ile raf arasındaki bu marj katmanı büyük ölçekte hiç incelenmemiş. İşte bu boşluğu doldurmak istedik.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Problemi soyut bırakmayalım — bu gerçek bir haber. Mart 2026'da Ticaret Bakanlığı, ulusal bir market zinciri olan File Market'e fahiş fiyat nedeniyle 1 milyon 806 bin lira idari para cezası kesti. Denetimde tespit edilen şey tam da bizim projemizin ölçtüğü şey: haldeki toptan fiyatı 50 lira olan biber, rafa 190 liraya konmuş — yani tek bir temel sebzede yüzde 280 kâr marjı. Burada iki nokta kritik. Birincisi: bu vaka, GıdaRadar'ın ürettiği marj sayılarının gerçek dünyada birebir karşılığı olduğunu kanıtlıyor; marj sonuçları slaytında göreceğimiz uzun sağ kuyruk, işte tam olarak bu tür uç vakalardan oluşuyor. İkincisi: düzenleyici bu vakayı tek tek, manuel bir denetimle yakaladı. GıdaRadar ise aynı örüntüyü otomatik olarak, her gün, 81 ilde ve tüm market zincirlerinde tespit ediyor. Yani tek bir manuel yakalamayı sistematik ve ölçeklenebilir bir erken uyarıya dönüştürüyoruz. Bu slayt hem problemin gerçekliğini hem de projenin somut iş değerini tek karede gösteriyor.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Amacımız tek cümleyle şu: gıda tedarik zincirindeki marjı ölçülebilir, karşılaştırılabilir ve tahmin edilebilir hale getiren bir karar destek sistemi ve erken uyarı radarı kurmak. Bunu dört somut çıktıyla tarif ediyoruz. Marj röntgeni: ürün, market zinciri ve il bazında günlük hal-perakende marjı. Asimetri skoru: her ürün için Rockets and Feathers davranışını sayısallaştırmak. Şok radarı: hava şoklarının raf fiyatına kaç günde yansıdığını ölçmek. Ve tahminleme: Prophet ile fiyat öngörüsü ve yapısal kırılma tespiti. Bu sistemin asıl muhatabı Rekabet Kurumu, Ticaret Bakanlığı ve Merkez Bankası gibi düzenleyiciler; ama şeffaflık sağladığı için nihayetinde tüketiciye de hizmet ediyor.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Hocamızın geçen sunumda haklı olarak istediği gibi, konumuzu literatürde nasıl çalışıldığına baktık. Akademik temelimiz net: Peltzman'ın 2000 tarihli, fiyatlar düşerken yükseldiğinden daha yavaş iner tezi, asimetrik geçişin neredeyse her piyasada görüldüğünü gösteriyor. Bacon 1991'de rockets and feathers terimini akaryakıt fiyatları için ortaya atan isim; bizim asimetri modelimizin çıkış referansı. Meyer ve von Cramon-Taubadel ise asimetrik fiyat geçişi yöntemlerinin derlemesini yapmış; biz onların önerdiği hata düzeltme modeli yaklaşımını kullanıyoruz. Mevcut çözümlere bakınca: TÜİK ve TCMB gıda enflasyon endeksi yayınlıyor ama sadece toplulaştırılmış, hal-perakende bağlantısı yok. Cimri, Marketfiyatı gibi ticari uygulamalar raf fiyatlarını karşılaştırıyor ama toptan marjı asla göstermiyor. Sentinel-2 NDVI ile bitki sağlığı izleyen uydu çözümleri var; bunu ileride girdi sinyali olarak eklemeyi planlıyoruz. Özetle: toptan ve perakendeyi birleştirip il ölçeğinde marjı ölçen mevcut bir ürün yok. GıdaRadar'ın katkısı tam burada.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GıdaRadar dokuz bağımsız veri kaynağını birleştiriyor. İki ana fiyat kaynağımız var: marketfiyatı.org.tr'den 6 zincir, 81 ilde perakende fiyatları; İBB ve Harman'dan 10 gerçek ilde hal yani toptan fiyatları. Bunların etrafına bağlam veren kaynaklar ekliyoruz: GDELT'ten gıda ve tarım haberlerinin tonu, EPİAŞ'tan 26 veri setiyle elektrik ve gaz piyasası, TCMB EVDS'den döviz kuru ve gıda enflasyonu, Open-Meteo'dan 81 ilin hava verisi, 81 ilin akaryakıt fiyatları ve Yahoo Finance'ten buğday, brent gibi küresel emtialar. İşin zorluğu sayıda değil çeşitlilikte: 5 farklı format ve 15 dakikadan aylığa kadar 5 farklı güncellenme sıklığı var. Hepsini Silver katmanında ortak bir tarih-şehir-ürün anahtarında birleştiriyoruz. Bu heterojenliği yönetmek projenin en kritik mühendislik işiydi.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Hocamızın bu sunumda görmek istediği bir aşama da verinin nasıl toplandığıydı. Burada şunu vurgulamak isteriz: her kaynak kendi tekniğini gerektirdi, hiçbiri birbirine benzemiyordu. Dört örnek. Birincisi adaptif grid search: marketfiyatı API'si sadece tek bir koordinata yakın depoları döndürüyor, ilçenin uzak mahalleleri eksik kalıyordu. İlçenin sınır kutusunu bir ızgaraya bölüp her noktadan sorgu attık; bir ilçedeki depot sayısı 14'ten 629'a çıktı. İkincisi headless tarayıcı: İBB hal portalı fiyatları JavaScript ile çiziyor, bu yüzden Selenium ve headless Chrome ile sayfayı sürüp tabloyu okuduk. Üçüncüsü Cloudflare aşımı: Harman hal Cloudflare arkasında, curl_cffi ile Chrome'un TLS parmak izini taklit ederek sorunsuz geçtik. Dördüncüsü BigQuery: GDELT haber verisini BigQuery'de tema ve ülke filtreleriyle sorgulayıp doğrudan S3 Parquet'e yazdık. Hepsinin ortak omurgası ise async I/O, üstel geri çekilmeli rate limiting ve incremental state dosyası — yani sadece bayatlamış veriyi yeniden çekiyoruz, her seferinde her şeyi değil.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Bir veri sorunumuz vardı: perakende fiyat geçmişi 2026 öncesi kamuya açık değil ve hal verisi yalnızca 10 ilde gerçek. Pandemiyi ve uzun dönem trendleri inceleyebilmek için kalan iller ve geçmiş yıllar adına titiz bir 2016-2026 sentetik backfill üretiyoruz. Formül dört çarpandan oluşuyor: 2026'daki gerçek scrape'ten gelen taban fiyat, TCMB taze meyve-sebze endeksinden türetilen enflasyon deflatörü, her ürünün hasat eğrisine göre mevsimsel profil ve son olarak deterministik gürültü. Üç nokta önemli. Enflasyon çıpamız gerçek: TCMB endeksine göre 2016'dan 2026'ya gıda enflasyonu 26 katı aşmış, bunu birebir kullanıyoruz. İkincisi tekrarlanabilir: gürültünün tohumu ürün, tarih ve depot'tan hash ile üretiliyor, yani script her çalıştığında aynı çıktıyı veriyor, denetlenebilir. Üçüncüsü dürüst etiketleme: her sentetik satır veri_turu alanında sentetik olarak işaretli; gerçek ve sentetik veri asla sessizce karışmıyor. Hocamız da değinmişti, herkes sentetik veri üretiyor; biz de üretiyoruz ama kaynağı gerçek enflasyona bağlı ve şeffaf şekilde işaretli.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Projenin ölçeğini birkaç rakamla özetleyelim: 81 il, 9 bağımsız kaynak, 2016'dan 2026'ya uzanan zaman aralığı ve tam backfill'de yaklaşık 283 milyon satır. Şunu dürüstçe söyleyelim: bugün aktif çalıştığımız veri kümesi onlarca gigabayt seviyesinde. Ama tasarım hedefimiz 500 gigabayt ve üzerindeki bölge — yani tek makinede işlemenin çöktüğü ölçek. Yalnızca market backfill'i bile 283 milyon satır, 52 gigabayt Parquet; tüm kaynaklar eklendiğinde doğrudan gerçek büyük veri rejimine giriyoruz. En önemlisi: aynı kod hem 1 yıllık demo alt kümesini hem de tam backfill'i çalıştırıyor, sadece start-date parametresi değişiyor. Yani hacim bizim için bir yeniden yazım değil, sadece bir parametre. Mimariyi en baştan bunun için kurduk.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Sistemi medallion mimarisiyle kurduk ve tamamı AWS üzerinde. Soldan sağa akış şöyle: Ingest katmanında Apache NiFi ve Kafka var; ham veri Bronze'a Parquet olarak iniyor; Spark ile Silver'da temizlenip entity resolution yapılıyor; yine Spark ile Gold'da analiz tabloları üretiliyor; en sonda Elasticsearch ve Kibana ile sunuluyor. Birkaç tasarım kararını vurgulayalım. Orkestrasyon: hocamızın isteği doğrultusunda Airflow yerine Apache NiFi kullandık; NiFi ingestion pipeline'ını sürekli batch'ler halinde sürüyor, Kafka da dayanıklı olay günlüğü görevini görüyor. Depolama: Bronze, Silver ve Gold'un üçü de Amazon S3'te Parquet olarak duruyor, yıl-ay bazlı Hive partition'larıyla. İşlem: PySpark 3.5.1; geliştirme için EC2'de local mode, ağır koşular için AWS EMR transient cluster. Sunum: Gold tabloları Elasticsearch'e indeksleniyor ve yine hocamızın yönlendirmesiyle Athena yerine Kibana dashboard'ları kullanıyoruz.</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Bronze katmanı veriyi ham tutar — ama formatı Parquet. Hocamız özellikle bunu görmek istemişti: veri Bronze'a girince ne kadar küçülüyor? Soldaki grafikte kaynak kaynak ham boyut ile Parquet boyutunu karşılaştırıyoruz. En çarpıcı örnek hal verisi: 1028 megabayt CSV, Parquet'e dönünce 62 megabayta iniyor — yaklaşık 17 kat küçülme. Akaryakıtta 12 kat, EPİAŞ'ta 6 kat sıkışma var. Bu sihir değil; Parquet sütun bazlı saklıyor, yani bir sorgu sadece ihtiyacı olan sütunları okuyor. Tip-farkında sıkıştırma, sözlük ve run-length kodlama tekrar eden değerleri katlıyor. Ayrıca partition pruning sayesinde yıl-2025 filtreli bir sorgu diğer klasörleri hiç açmıyor. Bunun pratik sonucu şu: daha küçük dosya, daha kısa EMR çalışma süresi, daha düşük AWS faturası. Yani format seçimi doğrudan maliyet kararı.</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Silver katmanı projenin en zor mühendislik problemini barındırıyor: entity resolution. Hal sistemiyle perakende sisteminin ortak ürün kimliği yok. Haldeki Domates Sofralık Sera ile marketteki salkim-domates-1-kg aynı ürün ama isimleri tamamen farklı; bunları eşleştirmek gerekiyor. Akış şöyle: önce hal adı ile market başlığını alıyoruz, bir ön filtreyle aday çiftleri çıkarıyoruz, sonra bir dil modeli yani Claude Haiku bu çiftleri yargılıyor, en sonda insan incelemesiyle nihai eşleştirme CSV'si oluşuyor. Burada hocamızın yönlendirmesi belirleyici oldu: klasik TF-IDF yerine modern bir dil modeli kullandık. Çağrılar batch halinde ve prompt-cache'li, bu yüzden hem hızlı hem ucuz hem de açıklanabilir; insan incelemesi de nihai eşleştirmeyi güvenilir kılıyor. Silver'da iki iş daha var: birim standardizasyonu — kasa, bağ, adet, gram, hepsini bir kilogram tabanına çeviren UDF'ler — ve zamansal-mekânsal hizalama: 15 dakikalıktan aylığa kadar farklı sıklıktaki kaynakları as-of join'le birleştirip her perakende noktasını en yakın hale bağlıyoruz.</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Hesaplama tarafında stratejimiz transient yani geçici EMR cluster. Mantığı tek cümleyle şu: cluster'ı açıyorum, veriyi işliyorum, kapatıyorum. Yani işlem gücü yalnızca bir iş koşarken var oluyor, boşta hiç maliyet yok. Akış dört adım. Önce preflight script'i: cluster daha açılmadan script sözdizimini, deps.zip paketini ve S3 yollarını statik olarak doğruluyor — erken hata ver, hiç para ödeme mantığı. Sonra launch_demo script'i cluster'ı yaratıyor. Cluster emr-7.2.0, Spark 3.5.1, bir master ve üç core node. Sonra 11 Spark adımı Bronze'dan Silver'a, Silver'dan Gold'a çalışıyor; ilk adım bir smoke testi ve başarısız olursa cluster anında kendini sonlandırıyor. En sonda auto-terminate ile cluster ölüyor. Tam bir Bronze-Silver-Gold koşusu yaklaşık 1 dolara mal oluyor ve kendi kendine kapanıyor; gece boyu unutulup fatura kabartan bir cluster riski yok.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pipeline'ı sadece tasarlamadık, gerçekten çalıştırdık. Tam Bronze-Silver-Gold hattını 1 yıllık bir alt küme üzerinde — yani 2025 Mayıs'tan 2026 Mayıs'a — AWS EMR'da koşturduk. Rakamlar: cluster emr-7.2.0, Spark 3.5.1, Python 3.9. Bir master artı üç core node. Toplam 11 Spark adımı. Uçtan uca çalışma süresi 30 ila 45 dakika. Ve koşu başına toplam maliyet yaklaşık 1 dolar. Akışın mantığı şöyle: sıfırıncı adım bir smoke testi, tek bir günü hiçbir şey yazmadan işliyor; başarısız olursa cluster kapanıyor, böylece diğer 10 adım hiç para harcamıyor. Birden ona kadarki adımlar market_silver, silver_joined, gdelt_silver ve ardından 7 Gold analizini zincirleme çalıştırıyor; ActionOnFailure CONTINUE olduğu için bir adım hata verse bile diğerleri devam ediyor. Sonuç şu: 9 kaynaktan gelen milyonlarca satırı kapsayan tüm medallion pipeline, bir saatin epey altında ve yaklaşık bir dolara tamamlanıyor. Hocamızın istediği büyük veri ile baş etme yetkinliğini somut olarak gösteren kısım bu.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 EMR adımının arkasında dağıtık bir Spark işi var; kısaca bu işlerin gerçekte ne yaptığını anlatalım. Birincisi gövde join'i: silver_joined, perakende ile hal verisini tarih-şehir-ürün anahtarı üzerinden FULL OUTER JOIN yapıyor; küçük eşleştirme CSV'si her executor'a broadcast ediliyor, böylece pahalı bir shuffle'dan kaçınıyoruz. İkincisi pencere fonksiyonları: daily_margin, 7 günlük hareketli ortalamaları Spark Window fonksiyonlarıyla hesaplıyor, şehir ve ürüne göre bölümlenmiş şekilde, tam shuffle olmadan. Üçüncüsü dağıtık model fit'i: rockets_feathers, shock_propagation ve Prophet, her ürün grubu için ayrı bir istatistiksel model kuruyor ve bunu applyInPandas ile yapıyor — yani modeller driver'da değil, her executor'da paralel olarak fit ediliyor. Dördüncüsü Spark optimizasyonları: Adaptive Query Execution shuffle partition'larını birleştiriyor, yıl-ay partition pruning ise sorgunun ihtiyaç duymadığı S3 klasörlerini hiç açmıyor. Özet: ağır iş cluster'a dağıtılıyor, driver yalnızca küçük ve önceden toplulaştırılmış sonuçları topluyor.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Hocamız metodolojinin net görünmesini özellikle istemişti, bu yüzden kullandığımız analitik araç kutusunu tek tabloda topladık. Beş yöntem var. Birincisi asimetrik hata düzeltme modeli — Engle-Granger ECM — Rockets and Feathers için; fiyat hareketlerini yukarı ve aşağı diye ikiye ayırıp asimetri skorunu pozitif katsayılar toplamının negatiflerin mutlak değerine oranı olarak hesaplıyor. İkincisi olay çalışması ve gecikme tespiti — şok yayılımı için; don, sıcak, yağış olaylarını tespit edip fiyatın baz çizgisinin yüzde 10 üstüne çıkması kaç gün sürdüğünü sayıyor. Üçüncüsü varyasyon katsayısı ve spread — fiyat eşitsizliği için; bir ürünün 81 ildeki standart sapma bölü ortalama ve maksimum eksi minimum bölü ortalama değerleri. Dördüncüsü Pearson gecikmeli korelasyon — makro ve haber etkenleri için; fiyat değişimini 0 ila 30 günlük gecikmelerde makro serilerle ilişkilendirip en iyi gecikmeyi ve p değerini raporluyor. Beşincisi Prophet additive model — tahminleme için; trend, yıllık mevsimsellik ve değişim noktalarıyla 30 günlük öngörü ve belirsizlik bantları üretiyor. Sıradaki slaytlarda bu yöntemlerin gerçek sonuçlarını göreceğiz.</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İlk sonucumuz günlük hal-perakende marjı. Pipeline'daki tüm günlük fiyat kayıtlarını analiz ettik — soldaki grafikte medyan turuncu çizgiyle işaretli. Çıkan tablo şu: tipik bir üründe raf fiyatı, toptan fiyatının neredeyse iki katı. Dağılımın uzun bir sağ kuyruğu var; yani bazı ürün ve il kombinasyonlarında marj olağanüstü açılıyor ve bu uç değerler ortalamayı medyanın epey üstüne çekiyor. Medyan ile ortalama arasındaki bu fark başlı başına bir bulgu: dağılım sağa çarpık, marj her yerde aynı değil. Sağdaki grafikte ise marjın ilden ile belirgin biçimde değiştiğini görüyoruz — en yüksek marjlı iller, en düşüklerden net biçimde ayrışıyor. Buradan çıkan içgörü şu: tipik üründe perakendecinin fiyatı, toptancının aldığının kabaca iki katı. Bu, projenin temel iddiasını rakamla doğruluyor. Not: grafikteki sayılar canlı veriden geliyor, sunum öncesi yeniden üretildiğinde güncel değeri yansıtır.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İkinci sonucumuz, projenin en ilgi çekici kısmı: Rockets and Feathers asimetrisi. Her ürün için, en az 150 gözlem şartıyla, asimetrik hata düzeltme modeli fit ettik. Grafikte dikey kesikli çizgi 1.0 değerinde, yani simetrik geçişi gösteriyor. Skoru 1'in üstünde olan ürünler — turuncu çubuklar — roket: maliyet artınca raf fiyatı hızlı yükseliyor. Skoru 1'in altında olanlar — yeşil çubuklar — tüy: maliyet düşünce raf fiyatı yavaş iniyor. Sonuç çarpıcı biçimde iki kutuplu. Kuru sarımsak, bebe patates, patates gibi temel ürünlerde belirgin roket davranışı var; bu ürünlerde fiyat artışları, düşüşlere kıyasla çok daha hızlı rafa yansıyor. Buradan çıkan içgörü net: birçok temel gıda üründe maliyet artışları, maliyet düşüşlerinden çok daha hızlı tüketiciye geçiyor — yani ölçülebilir, tüketici aleyhine bir asimetri var. Bu tam olarak Bacon'ın rockets and feathers dediği etkinin Türkiye gıda perakende verisinde sayısal kanıtı.</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Üçüncü sonucumuz hava şoku yayılımı. Hava verisinden don, aşırı sıcak ve şiddetli yağış olaylarını tespit ediyoruz. Sonra her olay için şu soruyu soruyoruz: fiyatın baz çizgisinin yüzde 10 üstüne çıkması kaç gün sürdü? Bunu önce hal yani toptan, sonra market yani perakende için ölçüyoruz. Soldaki histogramda gecikme günlerinin dağılımı var; hal fiyatı önce tepki veriyor, perakende ise ek bir gecikmeyle onu takip ediyor. Sağdaki grafikte ise hava olaylarına en duyarlı ürünleri görüyoruz — yapraklı sebzeler ve meyveli sebzeler en büyük zirve fiyat sıçramalarını yaşıyor. Buradan çıkan içgörü uygulama açısından çok değerli: hava şokları rafa belirli, ölçülebilir bir gecikmeyle ulaşıyor. Bu gecikme bir erken uyarı penceresi demek — don olayını gördüğümüz anda, fiyat henüz rafa yansımadan birkaç günlük bir öngörü süresi kazanıyoruz. Erken uyarı radarı fikri tam da bu gecikmenin üstüne kuruluyor.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Dördüncü sonucumuz şehirler arası fiyat eşitsizliği. Soru basit: aynı ürün, 81 il — fiyat farkı ne kadar açılıyor? Bunu spread yüzdesi ile ölçüyoruz: iller arasındaki maksimum fiyat eksi minimum fiyat, bölü ortalama raf fiyatı. Grafikte en yüksek eşitsizliğe sahip ürünleri görüyoruz; üst sıradaki ürünlerde en ucuz il ile en pahalı il arasında onlarca puanlık bir fiyat farkı var. Yani birebir aynı ürün, bir ilde diğerinden belirgin biçimde daha pahalı olabiliyor. Köşedeki kutuda ortalama varyasyon katsayısını da not ettik. Bu bulgu, problem slaytında bahsettiğimiz mekânsal spekülasyon sinyalini ölçülebilir hale getiriyor. Aynı ürünler iller arasında çift haneli, kimi zaman yüzde 50'ye varan fiyat farkları taşıyor. Bu fark lojistik maliyetiyle kısmen açıklanabilir ama tamamı değil; geri kalanı lokasyon bazlı fiyatlama gücüne işaret ediyor ve düzenleyici için tam da bakılması gereken yer burası.</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Beşinci sonucumuz dış etkenler — makro ve haber. Buraya kadar marjı ve fiyatı kendi içinde inceledik; ama gıda fiyatları boşlukta hareket etmiyor. Bu analizde gıda fiyatlarını akaryakıt, döviz kuru, küresel emtialar ve elektrik fiyatlarıyla ilişkilendirdik. Yöntem Pearson korelasyonu; her makro seri için fiyat değişimine karşı 0 ila 30 günlük gecikmeleri test edip en güçlü ilişkiyi veren gecikmeyi raporluyoruz. Ayrıca GDELT haber tonunu da fiyat hareketlerinin öncü göstergesi olarak test ediyoruz. Grafikte hangi makro etkenlerin gıda fiyatıyla en yüksek mutlak korelasyona sahip olduğunu sıraladık. Buradan çıkan içgörü şu: gıda fiyatları izole değil; akaryakıt, kur ve emtia şokları ölçülebilir öncü sinyaller. Bu da erken uyarı sistemine ayrı bir boyut katıyor — sadece haldeki fiyatı değil, onun da öncülü olan makro etkenleri izleyebiliyoruz.</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Altıncı ve son sonucumuz tahminleme. Hocamız özellikle domatesin son 10 yıllık serisini ve Prophet ile gelecek tahminini görmek istemişti. Grafikte domates fiyatını 2016'dan 2026'ya tüm geçmişiyle modelledik. Meta'nın Prophet modeli iki şeyi çok net yakalıyor: güçlü yıllık mevsimsellik — her yıl tekrarlayan o dalga — ve alttaki yükselen trend. Kesikli dikey çizgiler trend değişim noktalarını, yani yapısal kırılmaları işaretliyor. En sağda ise turuncu renkte 30 günlük gelecek tahmini var; etrafındaki gölgeli alan da belirsizlik bandı. Buradan çıkan içgörü şu: pipeline yalnızca geçmişi açıklamıyor, ileriye dönük 30 günlük bir fiyat öngörüsü de üretiyor. Mevsimsellik artı trend artı değişim noktası yaklaşımı, erken uyarı radarının tahmin ayağını oluşturuyor.</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Hocamızın altını çizdiği bir araştırma sorusu da pandemi gap'iydi: hal-perakende marjı 2020 pandemisinden sonra kalıcı olarak açıldı mı, yoksa pandemi öncesi seviyesine geri döndü mü? Yöntemimiz net: pandemic_gap script'i her ürün ve zincir için 2019 ortalama marjını baz alıyor, bunu 2021-2024 ortalama marjıyla karşılaştırıyor ve gap genişleme yüzdesini hesaplıyor; formül post eksi baz, bölü baz. Durum şu: bu analiz tam 2016-2026 backfill'i gerektiriyor, çünkü 1 yıllık EMR demo alt kümesinde 2019 baz çizgisi yok. Tam geçmiş üzerindeki koşu şu anda hesaplanıyor; sonuç panelini o koşudan gelen grafik ve rakamlarla dolduracağız. Yani metodoloji ve altyapı hazır, yalnızca tam veriyle çalışan nihai sayıyı bekliyoruz. Beklentimiz, diğer sonuçlarımızla tutarlı biçimde, marjın pandemi sonrası kalıcı olarak bir miktar genişlemiş olması yönünde — ama bunu veriyle doğrulamadan iddia etmiyoruz.</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Analiz sonuçlarını yalnızca tablo olarak bırakmıyoruz; Gold tabloları Elasticsearch'e indeksleniyor ve Kibana üzerinden keşfediliyor. Hocamızın yönlendirmesiyle Athena yerine ELK yığınını seçtik; çünkü statik bir sorgu değil, etkileşimli bir keşif istiyoruz. Dört ana dashboard'umuz var. Marj haritası: il bazında hal-perakende marjının Türkiye ısı görünümü. Asimetri panosu: ürün ve zincir bazında Rockets and Feathers skorları. Şok zaman çizelgesi: hava ve haber olaylarının fiyat serisi üstüne bindirilmesi. Tahmin görünümü: Prophet öngörüsü, mevsimsellik ve değişim noktalarıyla. Dashboard setimiz yeni analizler eklendikçe büyüyor. Kibana'nın asıl değeri şu: bir düzenleyici, ulusal haritadan başlayıp saniyeler içinde tek bir ürün-şehir-gün kırılımına kadar inebiliyor. Yani sistem sadece veri üretmiyor, o veriyi karar verilebilir hale getiriyor.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Peki bu sistem kime, ne değer üretiyor? Üç kitleye bakalım. Birincisi düzenleyiciler: Rekabet Kurumu ve Ticaret Bakanlığı, haksız fiyatlamayı artık gerçek veriyle gösterebilir. Asimetri skorları ve marj aykırı değerleri, soyut şikâyetler değil, uygulanabilir denetim sinyalleri haline geliyor. Sunumun başında gördüğümüz File Market vakası tam da bunun kanıtı: düzenleyici tek bir vakayı manuel denetimle yakaladı — GıdaRadar bu tür yüzlerce aykırı vakayı otomatik olarak önüne koyabilir. İkincisi tüketici ve toplum: marjın gerçekte nerede oluştuğunun şeffaf olması gıda enflasyonunu anlaşılır kılıyor ve spekülatif fiyatlama psikolojisini kırıyor. Üçüncüsü ekonomik strateji: sistem hangi illerde lojistik maliyet sorunu olduğunu ve hangi zincirlerin asimetrik geçişi fırsata çevirdiğini nokta atışı gösteriyor; bu da hedefli politika için doğrudan girdi. Özetle GıdaRadar bir akademik egzersiz değil, somut bir karar destek aracı olarak tasarlandı.</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 burada bitmiyor; yol haritamızda altı başlık var. Birincisi tam backfill: 2016-2026 tüm geçmişi EMR'da koşturmak — bu, pandemi gap sonucunu tam ölçekte açacak. İkincisi makine öğrenmesi modelleri: Prophet'in yanına XGBoost ve LSTM ekleyip çok değişkenli, daha zengin tahminler yapmak. Üçüncüsü uydu sinyali: Sentinel-2 NDVI bitki sağlığı verisini sisteme katarak arz şoklarını daha hale ulaşmadan yakalamak. Dördüncüsü sürekli streaming: NiFi ve Kafka hattını batch'in ötesine taşıyıp tam sürekli bir pipeline'a yükseltmek. Beşincisi rota analizi: Ankara-Konya gibi taşıma koridorlarını inceleyerek lojistik maliyetini fiyatlama gücünden ayırmak — hocamızın da değindiği bir nokta. Altıncısı kapsam: gerçek hal verisini 10 ilin ötesine genişletmek ve ürün kataloğunu derinleştirmek. Yani sağlam bir temel kurduk ve büyütülecek yön net.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 slaytımız kaynakça ve kapanış. Asimetri analizimizin akademik temelini Peltzman, Bacon ve Meyer ile von Cramon-Taubadel'in çalışmaları oluşturuyor; tahminleme için Prophet'in orijinal makalesini referans aldık. Veri kaynaklarımızı da burada listeledik: marketfiyatı, İBB ve Harman hal, GDELT, EPİAŞ, TCMB EVDS, Open-Meteo, EPDK ve Yahoo Finance. Ayrıca şeffaflık adına bir not: projenin geliştirilmesi ve sunum hazırlığında yapay zeka araçlarından yararlandık. Toparlarsak: Türkiye gıda tedarik zincirindeki marjı uçtan uca ölçen, asimetrik fiyat geçişini sayısallaştıran, hava şoklarının yansıma hızını bulan ve tahmin üreten bütün bir büyük veri sistemi kurduk; AWS üzerinde, medallion mimarisiyle ve gerçek sonuçlarla. Bizi dinlediğiniz için teşekkür ederiz — sorularınızı memnuniyetle alırız.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606040"/>
            <a:ext cx="12191695" cy="82296"/>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868680"/>
            <a:ext cx="10332720" cy="914400"/>
          </a:xfrm>
          <a:prstGeom prst="rect">
            <a:avLst/>
          </a:prstGeom>
          <a:noFill/>
        </p:spPr>
        <p:txBody>
          <a:bodyPr wrap="square">
            <a:spAutoFit/>
          </a:bodyPr>
          <a:lstStyle/>
          <a:p>
            <a:pPr algn="ctr">
              <a:spcAft>
                <a:spcPts val="600"/>
              </a:spcAft>
            </a:pPr>
            <a:r>
              <a:rPr sz="1800" b="1" i="0">
                <a:solidFill>
                  <a:srgbClr val="E9C46A"/>
                </a:solidFill>
                <a:latin typeface="Calibri"/>
              </a:rPr>
              <a:t>BIG DATA — FINAL PROJECT</a:t>
            </a:r>
          </a:p>
        </p:txBody>
      </p:sp>
      <p:sp>
        <p:nvSpPr>
          <p:cNvPr id="5" name="TextBox 4"/>
          <p:cNvSpPr txBox="1"/>
          <p:nvPr/>
        </p:nvSpPr>
        <p:spPr>
          <a:xfrm>
            <a:off x="640080" y="1371600"/>
            <a:ext cx="10881360" cy="1280160"/>
          </a:xfrm>
          <a:prstGeom prst="rect">
            <a:avLst/>
          </a:prstGeom>
          <a:noFill/>
        </p:spPr>
        <p:txBody>
          <a:bodyPr wrap="square">
            <a:spAutoFit/>
          </a:bodyPr>
          <a:lstStyle/>
          <a:p>
            <a:pPr algn="ctr">
              <a:spcAft>
                <a:spcPts val="600"/>
              </a:spcAft>
            </a:pPr>
            <a:r>
              <a:rPr sz="6000" b="1" i="0">
                <a:solidFill>
                  <a:srgbClr val="FFFFFF"/>
                </a:solidFill>
                <a:latin typeface="Calibri"/>
              </a:rPr>
              <a:t>GıdaRadar</a:t>
            </a:r>
          </a:p>
        </p:txBody>
      </p:sp>
      <p:sp>
        <p:nvSpPr>
          <p:cNvPr id="6" name="TextBox 5"/>
          <p:cNvSpPr txBox="1"/>
          <p:nvPr/>
        </p:nvSpPr>
        <p:spPr>
          <a:xfrm>
            <a:off x="640080" y="2788920"/>
            <a:ext cx="10881360" cy="1371600"/>
          </a:xfrm>
          <a:prstGeom prst="rect">
            <a:avLst/>
          </a:prstGeom>
          <a:noFill/>
        </p:spPr>
        <p:txBody>
          <a:bodyPr wrap="square">
            <a:spAutoFit/>
          </a:bodyPr>
          <a:lstStyle/>
          <a:p>
            <a:pPr algn="ctr">
              <a:spcAft>
                <a:spcPts val="600"/>
              </a:spcAft>
            </a:pPr>
            <a:r>
              <a:rPr sz="3000" b="1" i="0">
                <a:solidFill>
                  <a:srgbClr val="FFFFFF"/>
                </a:solidFill>
                <a:latin typeface="Calibri"/>
              </a:rPr>
              <a:t>Türkiye Food Supply Chain Transparency</a:t>
            </a:r>
          </a:p>
          <a:p>
            <a:pPr algn="ctr">
              <a:spcAft>
                <a:spcPts val="600"/>
              </a:spcAft>
            </a:pPr>
            <a:r>
              <a:rPr sz="3000" b="1" i="0">
                <a:solidFill>
                  <a:srgbClr val="2A9D8F"/>
                </a:solidFill>
                <a:latin typeface="Calibri"/>
              </a:rPr>
              <a:t>&amp; Spatial Margin Analysis Engine</a:t>
            </a:r>
          </a:p>
        </p:txBody>
      </p:sp>
      <p:sp>
        <p:nvSpPr>
          <p:cNvPr id="7" name="TextBox 6"/>
          <p:cNvSpPr txBox="1"/>
          <p:nvPr/>
        </p:nvSpPr>
        <p:spPr>
          <a:xfrm>
            <a:off x="640080" y="4297680"/>
            <a:ext cx="10881360" cy="822960"/>
          </a:xfrm>
          <a:prstGeom prst="rect">
            <a:avLst/>
          </a:prstGeom>
          <a:noFill/>
        </p:spPr>
        <p:txBody>
          <a:bodyPr wrap="square">
            <a:spAutoFit/>
          </a:bodyPr>
          <a:lstStyle/>
          <a:p>
            <a:pPr algn="ctr">
              <a:spcAft>
                <a:spcPts val="600"/>
              </a:spcAft>
            </a:pPr>
            <a:r>
              <a:rPr sz="1700" b="0" i="0">
                <a:solidFill>
                  <a:srgbClr val="C9D2E0"/>
                </a:solidFill>
                <a:latin typeface="Calibri"/>
              </a:rPr>
              <a:t>Wholesale (Hal) → Retail margins · Rockets &amp; Feathers · Shock propagation · Spatial speculation</a:t>
            </a:r>
          </a:p>
        </p:txBody>
      </p:sp>
      <p:sp>
        <p:nvSpPr>
          <p:cNvPr id="8" name="TextBox 7"/>
          <p:cNvSpPr txBox="1"/>
          <p:nvPr/>
        </p:nvSpPr>
        <p:spPr>
          <a:xfrm>
            <a:off x="640080" y="5212080"/>
            <a:ext cx="10881360" cy="548640"/>
          </a:xfrm>
          <a:prstGeom prst="rect">
            <a:avLst/>
          </a:prstGeom>
          <a:noFill/>
        </p:spPr>
        <p:txBody>
          <a:bodyPr wrap="square">
            <a:spAutoFit/>
          </a:bodyPr>
          <a:lstStyle/>
          <a:p>
            <a:pPr algn="ctr">
              <a:spcAft>
                <a:spcPts val="600"/>
              </a:spcAft>
            </a:pPr>
            <a:r>
              <a:rPr sz="2000" b="1" i="0">
                <a:solidFill>
                  <a:srgbClr val="FFFFFF"/>
                </a:solidFill>
                <a:latin typeface="Calibri"/>
              </a:rPr>
              <a:t>Azmi Yağlı   ·   Abdullah Zengin   ·   Hidayet Ersin Dursun</a:t>
            </a:r>
          </a:p>
        </p:txBody>
      </p:sp>
      <p:sp>
        <p:nvSpPr>
          <p:cNvPr id="9" name="TextBox 8"/>
          <p:cNvSpPr txBox="1"/>
          <p:nvPr/>
        </p:nvSpPr>
        <p:spPr>
          <a:xfrm>
            <a:off x="640080" y="5989320"/>
            <a:ext cx="10881360" cy="457200"/>
          </a:xfrm>
          <a:prstGeom prst="rect">
            <a:avLst/>
          </a:prstGeom>
          <a:noFill/>
        </p:spPr>
        <p:txBody>
          <a:bodyPr wrap="square">
            <a:spAutoFit/>
          </a:bodyPr>
          <a:lstStyle/>
          <a:p>
            <a:pPr algn="ctr">
              <a:spcAft>
                <a:spcPts val="600"/>
              </a:spcAft>
            </a:pPr>
            <a:r>
              <a:rPr sz="1200" b="0" i="1">
                <a:solidFill>
                  <a:srgbClr val="9AA6B8"/>
                </a:solidFill>
                <a:latin typeface="Calibri"/>
              </a:rPr>
              <a:t>Bu çalışmada yapay zeka araçlarından (AI assist) yararlanılmıştır.</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WHO WE ARE</a:t>
            </a:r>
          </a:p>
          <a:p>
            <a:pPr algn="l">
              <a:spcAft>
                <a:spcPts val="600"/>
              </a:spcAft>
            </a:pPr>
            <a:r>
              <a:rPr sz="2900" b="1" i="0">
                <a:solidFill>
                  <a:srgbClr val="FFFFFF"/>
                </a:solidFill>
                <a:latin typeface="Calibri"/>
              </a:rPr>
              <a:t>The Team</a:t>
            </a:r>
          </a:p>
        </p:txBody>
      </p:sp>
      <p:sp>
        <p:nvSpPr>
          <p:cNvPr id="6" name="Rounded Rectangle 5"/>
          <p:cNvSpPr/>
          <p:nvPr/>
        </p:nvSpPr>
        <p:spPr>
          <a:xfrm>
            <a:off x="640080" y="1645920"/>
            <a:ext cx="3520440" cy="32004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645920"/>
            <a:ext cx="3520440" cy="8686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i="0">
                <a:solidFill>
                  <a:srgbClr val="FFFFFF"/>
                </a:solidFill>
                <a:latin typeface="Calibri"/>
              </a:rPr>
              <a:t>Azmi Yağlı</a:t>
            </a:r>
          </a:p>
        </p:txBody>
      </p:sp>
      <p:sp>
        <p:nvSpPr>
          <p:cNvPr id="8" name="TextBox 7"/>
          <p:cNvSpPr txBox="1"/>
          <p:nvPr/>
        </p:nvSpPr>
        <p:spPr>
          <a:xfrm>
            <a:off x="868680" y="2743200"/>
            <a:ext cx="3063240" cy="2011680"/>
          </a:xfrm>
          <a:prstGeom prst="rect">
            <a:avLst/>
          </a:prstGeom>
          <a:noFill/>
        </p:spPr>
        <p:txBody>
          <a:bodyPr wrap="square">
            <a:spAutoFit/>
          </a:bodyPr>
          <a:lstStyle/>
          <a:p>
            <a:pPr algn="ctr">
              <a:spcAft>
                <a:spcPts val="1000"/>
              </a:spcAft>
            </a:pPr>
            <a:r>
              <a:rPr sz="1700" b="1" i="0">
                <a:solidFill>
                  <a:srgbClr val="2A9D8F"/>
                </a:solidFill>
                <a:latin typeface="Calibri"/>
              </a:rPr>
              <a:t>Data Engineering</a:t>
            </a:r>
          </a:p>
          <a:p>
            <a:pPr algn="ctr">
              <a:spcAft>
                <a:spcPts val="600"/>
              </a:spcAft>
            </a:pPr>
            <a:r>
              <a:rPr sz="1500" b="0" i="0">
                <a:solidFill>
                  <a:srgbClr val="222A35"/>
                </a:solidFill>
                <a:latin typeface="Calibri"/>
              </a:rPr>
              <a:t>Ingestion &amp; scraping, NiFi/Kafka, Bronze layer, S3 partitioning</a:t>
            </a:r>
          </a:p>
        </p:txBody>
      </p:sp>
      <p:sp>
        <p:nvSpPr>
          <p:cNvPr id="9" name="Rounded Rectangle 8"/>
          <p:cNvSpPr/>
          <p:nvPr/>
        </p:nvSpPr>
        <p:spPr>
          <a:xfrm>
            <a:off x="4361688" y="1645920"/>
            <a:ext cx="3520440" cy="32004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61688" y="1645920"/>
            <a:ext cx="3520440" cy="8686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i="0">
                <a:solidFill>
                  <a:srgbClr val="FFFFFF"/>
                </a:solidFill>
                <a:latin typeface="Calibri"/>
              </a:rPr>
              <a:t>Abdullah Zengin</a:t>
            </a:r>
          </a:p>
        </p:txBody>
      </p:sp>
      <p:sp>
        <p:nvSpPr>
          <p:cNvPr id="11" name="TextBox 10"/>
          <p:cNvSpPr txBox="1"/>
          <p:nvPr/>
        </p:nvSpPr>
        <p:spPr>
          <a:xfrm>
            <a:off x="4590288" y="2743200"/>
            <a:ext cx="3063240" cy="2011680"/>
          </a:xfrm>
          <a:prstGeom prst="rect">
            <a:avLst/>
          </a:prstGeom>
          <a:noFill/>
        </p:spPr>
        <p:txBody>
          <a:bodyPr wrap="square">
            <a:spAutoFit/>
          </a:bodyPr>
          <a:lstStyle/>
          <a:p>
            <a:pPr algn="ctr">
              <a:spcAft>
                <a:spcPts val="1000"/>
              </a:spcAft>
            </a:pPr>
            <a:r>
              <a:rPr sz="1700" b="1" i="0">
                <a:solidFill>
                  <a:srgbClr val="2A9D8F"/>
                </a:solidFill>
                <a:latin typeface="Calibri"/>
              </a:rPr>
              <a:t>Platform &amp; Pipeline</a:t>
            </a:r>
          </a:p>
          <a:p>
            <a:pPr algn="ctr">
              <a:spcAft>
                <a:spcPts val="600"/>
              </a:spcAft>
            </a:pPr>
            <a:r>
              <a:rPr sz="1500" b="0" i="0">
                <a:solidFill>
                  <a:srgbClr val="222A35"/>
                </a:solidFill>
                <a:latin typeface="Calibri"/>
              </a:rPr>
              <a:t>Medallion architecture, Spark Silver layer, EMR orchestration</a:t>
            </a:r>
          </a:p>
        </p:txBody>
      </p:sp>
      <p:sp>
        <p:nvSpPr>
          <p:cNvPr id="12" name="Rounded Rectangle 11"/>
          <p:cNvSpPr/>
          <p:nvPr/>
        </p:nvSpPr>
        <p:spPr>
          <a:xfrm>
            <a:off x="8083296" y="1645920"/>
            <a:ext cx="3520440" cy="32004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83296" y="1645920"/>
            <a:ext cx="3520440" cy="8686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800" b="1" i="0">
                <a:solidFill>
                  <a:srgbClr val="FFFFFF"/>
                </a:solidFill>
                <a:latin typeface="Calibri"/>
              </a:rPr>
              <a:t>Hidayet Ersin Dursun</a:t>
            </a:r>
          </a:p>
        </p:txBody>
      </p:sp>
      <p:sp>
        <p:nvSpPr>
          <p:cNvPr id="14" name="TextBox 13"/>
          <p:cNvSpPr txBox="1"/>
          <p:nvPr/>
        </p:nvSpPr>
        <p:spPr>
          <a:xfrm>
            <a:off x="8311896" y="2743200"/>
            <a:ext cx="3063240" cy="2011680"/>
          </a:xfrm>
          <a:prstGeom prst="rect">
            <a:avLst/>
          </a:prstGeom>
          <a:noFill/>
        </p:spPr>
        <p:txBody>
          <a:bodyPr wrap="square">
            <a:spAutoFit/>
          </a:bodyPr>
          <a:lstStyle/>
          <a:p>
            <a:pPr algn="ctr">
              <a:spcAft>
                <a:spcPts val="1000"/>
              </a:spcAft>
            </a:pPr>
            <a:r>
              <a:rPr sz="1700" b="1" i="0">
                <a:solidFill>
                  <a:srgbClr val="2A9D8F"/>
                </a:solidFill>
                <a:latin typeface="Calibri"/>
              </a:rPr>
              <a:t>Data Science</a:t>
            </a:r>
          </a:p>
          <a:p>
            <a:pPr algn="ctr">
              <a:spcAft>
                <a:spcPts val="600"/>
              </a:spcAft>
            </a:pPr>
            <a:r>
              <a:rPr sz="1500" b="0" i="0">
                <a:solidFill>
                  <a:srgbClr val="222A35"/>
                </a:solidFill>
                <a:latin typeface="Calibri"/>
              </a:rPr>
              <a:t>Entity resolution, Gold analytics, forecasting &amp; dashboards</a:t>
            </a:r>
          </a:p>
        </p:txBody>
      </p:sp>
      <p:sp>
        <p:nvSpPr>
          <p:cNvPr id="15" name="TextBox 14"/>
          <p:cNvSpPr txBox="1"/>
          <p:nvPr/>
        </p:nvSpPr>
        <p:spPr>
          <a:xfrm>
            <a:off x="640080" y="5212080"/>
            <a:ext cx="10881360" cy="822960"/>
          </a:xfrm>
          <a:prstGeom prst="rect">
            <a:avLst/>
          </a:prstGeom>
          <a:noFill/>
        </p:spPr>
        <p:txBody>
          <a:bodyPr wrap="square">
            <a:spAutoFit/>
          </a:bodyPr>
          <a:lstStyle/>
          <a:p>
            <a:pPr algn="ctr">
              <a:spcAft>
                <a:spcPts val="600"/>
              </a:spcAft>
            </a:pPr>
            <a:r>
              <a:rPr sz="1600" b="0" i="1">
                <a:solidFill>
                  <a:srgbClr val="5B6677"/>
                </a:solidFill>
                <a:latin typeface="Calibri"/>
              </a:rPr>
              <a:t>A 3-person team carrying both the Data Engineering and the Data Science hats end-to-end.</a:t>
            </a:r>
          </a:p>
        </p:txBody>
      </p:sp>
      <p:sp>
        <p:nvSpPr>
          <p:cNvPr id="16" name="TextBox 15"/>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7" name="TextBox 16"/>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WHY THIS MATTERS</a:t>
            </a:r>
          </a:p>
          <a:p>
            <a:pPr algn="l">
              <a:spcAft>
                <a:spcPts val="600"/>
              </a:spcAft>
            </a:pPr>
            <a:r>
              <a:rPr sz="2900" b="1" i="0">
                <a:solidFill>
                  <a:srgbClr val="FFFFFF"/>
                </a:solidFill>
                <a:latin typeface="Calibri"/>
              </a:rPr>
              <a:t>Problem Statement</a:t>
            </a:r>
          </a:p>
        </p:txBody>
      </p:sp>
      <p:sp>
        <p:nvSpPr>
          <p:cNvPr id="6" name="TextBox 5"/>
          <p:cNvSpPr txBox="1"/>
          <p:nvPr/>
        </p:nvSpPr>
        <p:spPr>
          <a:xfrm>
            <a:off x="640080" y="1371600"/>
            <a:ext cx="10972800" cy="731520"/>
          </a:xfrm>
          <a:prstGeom prst="rect">
            <a:avLst/>
          </a:prstGeom>
          <a:noFill/>
        </p:spPr>
        <p:txBody>
          <a:bodyPr wrap="square">
            <a:spAutoFit/>
          </a:bodyPr>
          <a:lstStyle/>
          <a:p>
            <a:pPr algn="l">
              <a:spcAft>
                <a:spcPts val="600"/>
              </a:spcAft>
            </a:pPr>
            <a:r>
              <a:rPr sz="1800" b="1" i="0">
                <a:solidFill>
                  <a:srgbClr val="222A35"/>
                </a:solidFill>
                <a:latin typeface="Calibri"/>
              </a:rPr>
              <a:t>A tomato leaves the wholesale market (hal) at ~15 ₺/kg and reaches the shelf at 30–40 ₺/kg. Where does the gap come from — and is it fair?</a:t>
            </a:r>
          </a:p>
        </p:txBody>
      </p:sp>
      <p:sp>
        <p:nvSpPr>
          <p:cNvPr id="7" name="Rounded Rectangle 6"/>
          <p:cNvSpPr/>
          <p:nvPr/>
        </p:nvSpPr>
        <p:spPr>
          <a:xfrm>
            <a:off x="640080" y="2331720"/>
            <a:ext cx="3520440" cy="27889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331720"/>
            <a:ext cx="3520440" cy="164592"/>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606040"/>
            <a:ext cx="3017520" cy="2377440"/>
          </a:xfrm>
          <a:prstGeom prst="rect">
            <a:avLst/>
          </a:prstGeom>
          <a:noFill/>
        </p:spPr>
        <p:txBody>
          <a:bodyPr wrap="square">
            <a:spAutoFit/>
          </a:bodyPr>
          <a:lstStyle/>
          <a:p>
            <a:pPr algn="l">
              <a:spcAft>
                <a:spcPts val="1000"/>
              </a:spcAft>
            </a:pPr>
            <a:r>
              <a:rPr sz="1900" b="1" i="0">
                <a:solidFill>
                  <a:srgbClr val="E76F51"/>
                </a:solidFill>
                <a:latin typeface="Calibri"/>
              </a:rPr>
              <a:t>The Black Box</a:t>
            </a:r>
          </a:p>
          <a:p>
            <a:pPr algn="l">
              <a:spcAft>
                <a:spcPts val="600"/>
              </a:spcAft>
            </a:pPr>
            <a:r>
              <a:rPr sz="1500" b="0" i="0">
                <a:solidFill>
                  <a:srgbClr val="222A35"/>
                </a:solidFill>
                <a:latin typeface="Calibri"/>
              </a:rPr>
              <a:t>No public dataset links wholesale prices to retail shelf prices. The margin is structurally invisible to regulators and consumers.</a:t>
            </a:r>
          </a:p>
        </p:txBody>
      </p:sp>
      <p:sp>
        <p:nvSpPr>
          <p:cNvPr id="10" name="Rounded Rectangle 9"/>
          <p:cNvSpPr/>
          <p:nvPr/>
        </p:nvSpPr>
        <p:spPr>
          <a:xfrm>
            <a:off x="4361688" y="2331720"/>
            <a:ext cx="3520440" cy="27889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61688" y="2331720"/>
            <a:ext cx="3520440" cy="164592"/>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2606040"/>
            <a:ext cx="3017520" cy="2377440"/>
          </a:xfrm>
          <a:prstGeom prst="rect">
            <a:avLst/>
          </a:prstGeom>
          <a:noFill/>
        </p:spPr>
        <p:txBody>
          <a:bodyPr wrap="square">
            <a:spAutoFit/>
          </a:bodyPr>
          <a:lstStyle/>
          <a:p>
            <a:pPr algn="l">
              <a:spcAft>
                <a:spcPts val="1000"/>
              </a:spcAft>
            </a:pPr>
            <a:r>
              <a:rPr sz="1900" b="1" i="0">
                <a:solidFill>
                  <a:srgbClr val="1B2A4A"/>
                </a:solidFill>
                <a:latin typeface="Calibri"/>
              </a:rPr>
              <a:t>Rockets &amp; Feathers</a:t>
            </a:r>
          </a:p>
          <a:p>
            <a:pPr algn="l">
              <a:spcAft>
                <a:spcPts val="600"/>
              </a:spcAft>
            </a:pPr>
            <a:r>
              <a:rPr sz="1500" b="0" i="0">
                <a:solidFill>
                  <a:srgbClr val="222A35"/>
                </a:solidFill>
                <a:latin typeface="Calibri"/>
              </a:rPr>
              <a:t>When wholesale costs rise, shelf prices jump like a rocket. When costs fall, they drift down like a feather — asymmetric transmission.</a:t>
            </a:r>
          </a:p>
        </p:txBody>
      </p:sp>
      <p:sp>
        <p:nvSpPr>
          <p:cNvPr id="13" name="Rounded Rectangle 12"/>
          <p:cNvSpPr/>
          <p:nvPr/>
        </p:nvSpPr>
        <p:spPr>
          <a:xfrm>
            <a:off x="8083296" y="2331720"/>
            <a:ext cx="3520440" cy="27889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83296" y="2331720"/>
            <a:ext cx="3520440" cy="164592"/>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39327" y="2606040"/>
            <a:ext cx="3017520" cy="2377440"/>
          </a:xfrm>
          <a:prstGeom prst="rect">
            <a:avLst/>
          </a:prstGeom>
          <a:noFill/>
        </p:spPr>
        <p:txBody>
          <a:bodyPr wrap="square">
            <a:spAutoFit/>
          </a:bodyPr>
          <a:lstStyle/>
          <a:p>
            <a:pPr algn="l">
              <a:spcAft>
                <a:spcPts val="1000"/>
              </a:spcAft>
            </a:pPr>
            <a:r>
              <a:rPr sz="1900" b="1" i="0">
                <a:solidFill>
                  <a:srgbClr val="2A9D8F"/>
                </a:solidFill>
                <a:latin typeface="Calibri"/>
              </a:rPr>
              <a:t>Spatial Speculation</a:t>
            </a:r>
          </a:p>
          <a:p>
            <a:pPr algn="l">
              <a:spcAft>
                <a:spcPts val="600"/>
              </a:spcAft>
            </a:pPr>
            <a:r>
              <a:rPr sz="1500" b="0" i="0">
                <a:solidFill>
                  <a:srgbClr val="222A35"/>
                </a:solidFill>
                <a:latin typeface="Calibri"/>
              </a:rPr>
              <a:t>Identical wholesale entry price, very different shelf prices across provinces — location-based pricing power goes unmeasured.</a:t>
            </a:r>
          </a:p>
        </p:txBody>
      </p:sp>
      <p:sp>
        <p:nvSpPr>
          <p:cNvPr id="16" name="Rounded Rectangle 15"/>
          <p:cNvSpPr/>
          <p:nvPr/>
        </p:nvSpPr>
        <p:spPr>
          <a:xfrm>
            <a:off x="640080" y="5349240"/>
            <a:ext cx="10908792" cy="77724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Calibri"/>
              </a:rPr>
              <a:t>Food inflation is a national priority — yet the margin layer between farm and shelf has never been measured at scale.</a:t>
            </a:r>
          </a:p>
        </p:txBody>
      </p:sp>
      <p:sp>
        <p:nvSpPr>
          <p:cNvPr id="17" name="TextBox 16"/>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8" name="TextBox 17"/>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IN THE NEWS · MARCH 2026</a:t>
            </a:r>
          </a:p>
          <a:p>
            <a:pPr algn="l">
              <a:spcAft>
                <a:spcPts val="600"/>
              </a:spcAft>
            </a:pPr>
            <a:r>
              <a:rPr sz="2900" b="1" i="0">
                <a:solidFill>
                  <a:srgbClr val="FFFFFF"/>
                </a:solidFill>
                <a:latin typeface="Calibri"/>
              </a:rPr>
              <a:t>A Real Case — Not Hypothetical</a:t>
            </a:r>
          </a:p>
        </p:txBody>
      </p:sp>
      <p:pic>
        <p:nvPicPr>
          <p:cNvPr id="6" name="Picture 5" descr="file_market_ceza.png"/>
          <p:cNvPicPr>
            <a:picLocks noChangeAspect="1"/>
          </p:cNvPicPr>
          <p:nvPr/>
        </p:nvPicPr>
        <p:blipFill>
          <a:blip r:embed="rId2"/>
          <a:stretch>
            <a:fillRect/>
          </a:stretch>
        </p:blipFill>
        <p:spPr>
          <a:xfrm>
            <a:off x="502920" y="1463040"/>
            <a:ext cx="6995160" cy="3043194"/>
          </a:xfrm>
          <a:prstGeom prst="rect">
            <a:avLst/>
          </a:prstGeom>
        </p:spPr>
      </p:pic>
      <p:sp>
        <p:nvSpPr>
          <p:cNvPr id="7" name="TextBox 6"/>
          <p:cNvSpPr txBox="1"/>
          <p:nvPr/>
        </p:nvSpPr>
        <p:spPr>
          <a:xfrm>
            <a:off x="548640" y="4590288"/>
            <a:ext cx="6949440" cy="457200"/>
          </a:xfrm>
          <a:prstGeom prst="rect">
            <a:avLst/>
          </a:prstGeom>
          <a:noFill/>
        </p:spPr>
        <p:txBody>
          <a:bodyPr wrap="square">
            <a:spAutoFit/>
          </a:bodyPr>
          <a:lstStyle/>
          <a:p>
            <a:pPr algn="l">
              <a:spcAft>
                <a:spcPts val="600"/>
              </a:spcAft>
            </a:pPr>
            <a:r>
              <a:rPr sz="1200" b="0" i="1">
                <a:solidFill>
                  <a:srgbClr val="5B6677"/>
                </a:solidFill>
                <a:latin typeface="Calibri"/>
              </a:rPr>
              <a:t>Web search result — "file market ceza", March 2026.</a:t>
            </a:r>
          </a:p>
        </p:txBody>
      </p:sp>
      <p:sp>
        <p:nvSpPr>
          <p:cNvPr id="8" name="Rounded Rectangle 7"/>
          <p:cNvSpPr/>
          <p:nvPr/>
        </p:nvSpPr>
        <p:spPr>
          <a:xfrm>
            <a:off x="7726679" y="1463040"/>
            <a:ext cx="3977639" cy="3127248"/>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73568" y="1645920"/>
            <a:ext cx="3520440" cy="2880360"/>
          </a:xfrm>
          <a:prstGeom prst="rect">
            <a:avLst/>
          </a:prstGeom>
          <a:noFill/>
        </p:spPr>
        <p:txBody>
          <a:bodyPr wrap="square">
            <a:spAutoFit/>
          </a:bodyPr>
          <a:lstStyle/>
          <a:p>
            <a:pPr algn="l">
              <a:spcAft>
                <a:spcPts val="1100"/>
              </a:spcAft>
            </a:pPr>
            <a:r>
              <a:rPr sz="1400" b="1" i="0">
                <a:solidFill>
                  <a:srgbClr val="2A9D8F"/>
                </a:solidFill>
                <a:latin typeface="Calibri"/>
              </a:rPr>
              <a:t>WHAT THE HEADLINE SAYS</a:t>
            </a:r>
          </a:p>
          <a:p>
            <a:pPr algn="l">
              <a:spcAft>
                <a:spcPts val="1000"/>
              </a:spcAft>
            </a:pPr>
            <a:r>
              <a:rPr sz="1450" b="1">
                <a:solidFill>
                  <a:srgbClr val="2A9D8F"/>
                </a:solidFill>
              </a:rPr>
              <a:t>▸  </a:t>
            </a:r>
            <a:r>
              <a:rPr sz="1450" b="0" i="0">
                <a:solidFill>
                  <a:srgbClr val="222A35"/>
                </a:solidFill>
                <a:latin typeface="Calibri"/>
              </a:rPr>
              <a:t>A national market chain was fined ₺1.8 M for excessive pricing.</a:t>
            </a:r>
          </a:p>
          <a:p>
            <a:pPr algn="l">
              <a:spcAft>
                <a:spcPts val="1000"/>
              </a:spcAft>
            </a:pPr>
            <a:r>
              <a:rPr sz="1450" b="1">
                <a:solidFill>
                  <a:srgbClr val="2A9D8F"/>
                </a:solidFill>
              </a:rPr>
              <a:t>▸  </a:t>
            </a:r>
            <a:r>
              <a:rPr sz="1450" b="0" i="0">
                <a:solidFill>
                  <a:srgbClr val="222A35"/>
                </a:solidFill>
                <a:latin typeface="Calibri"/>
              </a:rPr>
              <a:t>A pepper bought at ₺50 from the hal was put on the shelf at ₺190.</a:t>
            </a:r>
          </a:p>
          <a:p>
            <a:pPr algn="l">
              <a:spcAft>
                <a:spcPts val="1000"/>
              </a:spcAft>
            </a:pPr>
            <a:r>
              <a:rPr sz="1450" b="1">
                <a:solidFill>
                  <a:srgbClr val="2A9D8F"/>
                </a:solidFill>
              </a:rPr>
              <a:t>▸  </a:t>
            </a:r>
            <a:r>
              <a:rPr sz="1450" b="0" i="0">
                <a:solidFill>
                  <a:srgbClr val="222A35"/>
                </a:solidFill>
                <a:latin typeface="Calibri"/>
              </a:rPr>
              <a:t>That is a ~280% markup on a single staple vegetable.</a:t>
            </a:r>
          </a:p>
          <a:p>
            <a:pPr algn="l">
              <a:spcAft>
                <a:spcPts val="1000"/>
              </a:spcAft>
            </a:pPr>
            <a:r>
              <a:rPr sz="1450" b="1">
                <a:solidFill>
                  <a:srgbClr val="2A9D8F"/>
                </a:solidFill>
              </a:rPr>
              <a:t>▸  </a:t>
            </a:r>
            <a:r>
              <a:rPr sz="1450" b="0" i="0">
                <a:solidFill>
                  <a:srgbClr val="222A35"/>
                </a:solidFill>
                <a:latin typeface="Calibri"/>
              </a:rPr>
              <a:t>The regulator caught it once — through a manual inspection.</a:t>
            </a:r>
          </a:p>
        </p:txBody>
      </p:sp>
      <p:sp>
        <p:nvSpPr>
          <p:cNvPr id="10" name="Rounded Rectangle 9"/>
          <p:cNvSpPr/>
          <p:nvPr/>
        </p:nvSpPr>
        <p:spPr>
          <a:xfrm>
            <a:off x="502920" y="5029200"/>
            <a:ext cx="11201400" cy="10972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GıdaRadar measures exactly this margin — automatically, every day, across 81 provinces and every chain. One manual catch becomes systematic, scalable detection.</a:t>
            </a:r>
          </a:p>
        </p:txBody>
      </p:sp>
      <p:sp>
        <p:nvSpPr>
          <p:cNvPr id="11" name="TextBox 10"/>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2" name="TextBox 11"/>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FROM DATA TO DECISIONS</a:t>
            </a:r>
          </a:p>
          <a:p>
            <a:pPr algn="l">
              <a:spcAft>
                <a:spcPts val="600"/>
              </a:spcAft>
            </a:pPr>
            <a:r>
              <a:rPr sz="2900" b="1" i="0">
                <a:solidFill>
                  <a:srgbClr val="FFFFFF"/>
                </a:solidFill>
                <a:latin typeface="Calibri"/>
              </a:rPr>
              <a:t>Project Goal</a:t>
            </a:r>
          </a:p>
        </p:txBody>
      </p:sp>
      <p:sp>
        <p:nvSpPr>
          <p:cNvPr id="6" name="Rounded Rectangle 5"/>
          <p:cNvSpPr/>
          <p:nvPr/>
        </p:nvSpPr>
        <p:spPr>
          <a:xfrm>
            <a:off x="640080" y="1371600"/>
            <a:ext cx="10908792" cy="105156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1" i="0">
                <a:solidFill>
                  <a:srgbClr val="FFFFFF"/>
                </a:solidFill>
                <a:latin typeface="Calibri"/>
              </a:rPr>
              <a:t>Build a Decision-Support System &amp; Early-Warning Radar that makes the food supply chain margin measurable, comparable and predictable.</a:t>
            </a:r>
          </a:p>
        </p:txBody>
      </p:sp>
      <p:sp>
        <p:nvSpPr>
          <p:cNvPr id="7" name="Rounded Rectangle 6"/>
          <p:cNvSpPr/>
          <p:nvPr/>
        </p:nvSpPr>
        <p:spPr>
          <a:xfrm>
            <a:off x="640080" y="2697480"/>
            <a:ext cx="2615184" cy="22860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2926080"/>
            <a:ext cx="2286000" cy="1920240"/>
          </a:xfrm>
          <a:prstGeom prst="rect">
            <a:avLst/>
          </a:prstGeom>
          <a:noFill/>
        </p:spPr>
        <p:txBody>
          <a:bodyPr wrap="square">
            <a:spAutoFit/>
          </a:bodyPr>
          <a:lstStyle/>
          <a:p>
            <a:pPr algn="ctr">
              <a:spcAft>
                <a:spcPts val="800"/>
              </a:spcAft>
            </a:pPr>
            <a:r>
              <a:rPr sz="1700" b="1" i="0">
                <a:solidFill>
                  <a:srgbClr val="1B2A4A"/>
                </a:solidFill>
                <a:latin typeface="Calibri"/>
              </a:rPr>
              <a:t>Margin X-Ray</a:t>
            </a:r>
          </a:p>
          <a:p>
            <a:pPr algn="ctr">
              <a:spcAft>
                <a:spcPts val="600"/>
              </a:spcAft>
            </a:pPr>
            <a:r>
              <a:rPr sz="1400" b="0" i="0">
                <a:solidFill>
                  <a:srgbClr val="222A35"/>
                </a:solidFill>
                <a:latin typeface="Calibri"/>
              </a:rPr>
              <a:t>Daily hal→retail margin by product, chain &amp; province</a:t>
            </a:r>
          </a:p>
        </p:txBody>
      </p:sp>
      <p:sp>
        <p:nvSpPr>
          <p:cNvPr id="9" name="Rounded Rectangle 8"/>
          <p:cNvSpPr/>
          <p:nvPr/>
        </p:nvSpPr>
        <p:spPr>
          <a:xfrm>
            <a:off x="3419856" y="2697480"/>
            <a:ext cx="2615184" cy="22860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02736" y="2926080"/>
            <a:ext cx="2286000" cy="1920240"/>
          </a:xfrm>
          <a:prstGeom prst="rect">
            <a:avLst/>
          </a:prstGeom>
          <a:noFill/>
        </p:spPr>
        <p:txBody>
          <a:bodyPr wrap="square">
            <a:spAutoFit/>
          </a:bodyPr>
          <a:lstStyle/>
          <a:p>
            <a:pPr algn="ctr">
              <a:spcAft>
                <a:spcPts val="800"/>
              </a:spcAft>
            </a:pPr>
            <a:r>
              <a:rPr sz="1700" b="1" i="0">
                <a:solidFill>
                  <a:srgbClr val="1B2A4A"/>
                </a:solidFill>
                <a:latin typeface="Calibri"/>
              </a:rPr>
              <a:t>Asymmetry Score</a:t>
            </a:r>
          </a:p>
          <a:p>
            <a:pPr algn="ctr">
              <a:spcAft>
                <a:spcPts val="600"/>
              </a:spcAft>
            </a:pPr>
            <a:r>
              <a:rPr sz="1400" b="0" i="0">
                <a:solidFill>
                  <a:srgbClr val="222A35"/>
                </a:solidFill>
                <a:latin typeface="Calibri"/>
              </a:rPr>
              <a:t>Quantify Rockets &amp; Feathers pricing per product</a:t>
            </a:r>
          </a:p>
        </p:txBody>
      </p:sp>
      <p:sp>
        <p:nvSpPr>
          <p:cNvPr id="11" name="Rounded Rectangle 10"/>
          <p:cNvSpPr/>
          <p:nvPr/>
        </p:nvSpPr>
        <p:spPr>
          <a:xfrm>
            <a:off x="6199632" y="2697480"/>
            <a:ext cx="2615184" cy="22860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82512" y="2926080"/>
            <a:ext cx="2286000" cy="1920240"/>
          </a:xfrm>
          <a:prstGeom prst="rect">
            <a:avLst/>
          </a:prstGeom>
          <a:noFill/>
        </p:spPr>
        <p:txBody>
          <a:bodyPr wrap="square">
            <a:spAutoFit/>
          </a:bodyPr>
          <a:lstStyle/>
          <a:p>
            <a:pPr algn="ctr">
              <a:spcAft>
                <a:spcPts val="800"/>
              </a:spcAft>
            </a:pPr>
            <a:r>
              <a:rPr sz="1700" b="1" i="0">
                <a:solidFill>
                  <a:srgbClr val="1B2A4A"/>
                </a:solidFill>
                <a:latin typeface="Calibri"/>
              </a:rPr>
              <a:t>Shock Radar</a:t>
            </a:r>
          </a:p>
          <a:p>
            <a:pPr algn="ctr">
              <a:spcAft>
                <a:spcPts val="600"/>
              </a:spcAft>
            </a:pPr>
            <a:r>
              <a:rPr sz="1400" b="0" i="0">
                <a:solidFill>
                  <a:srgbClr val="222A35"/>
                </a:solidFill>
                <a:latin typeface="Calibri"/>
              </a:rPr>
              <a:t>Measure how fast weather shocks hit shelf prices</a:t>
            </a:r>
          </a:p>
        </p:txBody>
      </p:sp>
      <p:sp>
        <p:nvSpPr>
          <p:cNvPr id="13" name="Rounded Rectangle 12"/>
          <p:cNvSpPr/>
          <p:nvPr/>
        </p:nvSpPr>
        <p:spPr>
          <a:xfrm>
            <a:off x="8979408" y="2697480"/>
            <a:ext cx="2615184" cy="22860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2288" y="2926080"/>
            <a:ext cx="2286000" cy="1920240"/>
          </a:xfrm>
          <a:prstGeom prst="rect">
            <a:avLst/>
          </a:prstGeom>
          <a:noFill/>
        </p:spPr>
        <p:txBody>
          <a:bodyPr wrap="square">
            <a:spAutoFit/>
          </a:bodyPr>
          <a:lstStyle/>
          <a:p>
            <a:pPr algn="ctr">
              <a:spcAft>
                <a:spcPts val="800"/>
              </a:spcAft>
            </a:pPr>
            <a:r>
              <a:rPr sz="1700" b="1" i="0">
                <a:solidFill>
                  <a:srgbClr val="1B2A4A"/>
                </a:solidFill>
                <a:latin typeface="Calibri"/>
              </a:rPr>
              <a:t>Forecasting</a:t>
            </a:r>
          </a:p>
          <a:p>
            <a:pPr algn="ctr">
              <a:spcAft>
                <a:spcPts val="600"/>
              </a:spcAft>
            </a:pPr>
            <a:r>
              <a:rPr sz="1400" b="0" i="0">
                <a:solidFill>
                  <a:srgbClr val="222A35"/>
                </a:solidFill>
                <a:latin typeface="Calibri"/>
              </a:rPr>
              <a:t>Prophet-based price outlook &amp; structural-break detection</a:t>
            </a:r>
          </a:p>
        </p:txBody>
      </p:sp>
      <p:sp>
        <p:nvSpPr>
          <p:cNvPr id="15" name="TextBox 14"/>
          <p:cNvSpPr txBox="1"/>
          <p:nvPr/>
        </p:nvSpPr>
        <p:spPr>
          <a:xfrm>
            <a:off x="640080" y="5257800"/>
            <a:ext cx="10908792" cy="914400"/>
          </a:xfrm>
          <a:prstGeom prst="rect">
            <a:avLst/>
          </a:prstGeom>
          <a:noFill/>
        </p:spPr>
        <p:txBody>
          <a:bodyPr wrap="square">
            <a:spAutoFit/>
          </a:bodyPr>
          <a:lstStyle/>
          <a:p>
            <a:pPr algn="ctr">
              <a:spcAft>
                <a:spcPts val="600"/>
              </a:spcAft>
            </a:pPr>
            <a:r>
              <a:rPr sz="1600" b="1" i="0">
                <a:solidFill>
                  <a:srgbClr val="5B6677"/>
                </a:solidFill>
                <a:latin typeface="Calibri"/>
              </a:rPr>
              <a:t>Primary stakeholders:  Competition Authority · Ministry of Trade · Central Bank (food-inflation analysis) · consumers</a:t>
            </a:r>
          </a:p>
        </p:txBody>
      </p:sp>
      <p:sp>
        <p:nvSpPr>
          <p:cNvPr id="16" name="TextBox 15"/>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7" name="TextBox 16"/>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HOW OTHERS APPROACH THIS</a:t>
            </a:r>
          </a:p>
          <a:p>
            <a:pPr algn="l">
              <a:spcAft>
                <a:spcPts val="600"/>
              </a:spcAft>
            </a:pPr>
            <a:r>
              <a:rPr sz="2900" b="1" i="0">
                <a:solidFill>
                  <a:srgbClr val="FFFFFF"/>
                </a:solidFill>
                <a:latin typeface="Calibri"/>
              </a:rPr>
              <a:t>Literature &amp; Existing Solutions</a:t>
            </a:r>
          </a:p>
        </p:txBody>
      </p:sp>
      <p:sp>
        <p:nvSpPr>
          <p:cNvPr id="6" name="TextBox 5"/>
          <p:cNvSpPr txBox="1"/>
          <p:nvPr/>
        </p:nvSpPr>
        <p:spPr>
          <a:xfrm>
            <a:off x="640080" y="1463040"/>
            <a:ext cx="5486400" cy="4572000"/>
          </a:xfrm>
          <a:prstGeom prst="rect">
            <a:avLst/>
          </a:prstGeom>
          <a:noFill/>
        </p:spPr>
        <p:txBody>
          <a:bodyPr wrap="square">
            <a:spAutoFit/>
          </a:bodyPr>
          <a:lstStyle/>
          <a:p>
            <a:pPr algn="l">
              <a:spcAft>
                <a:spcPts val="1100"/>
              </a:spcAft>
            </a:pPr>
            <a:r>
              <a:rPr sz="1600" b="1" i="0">
                <a:solidFill>
                  <a:srgbClr val="1B2A4A"/>
                </a:solidFill>
                <a:latin typeface="Calibri"/>
              </a:rPr>
              <a:t>Academic foundation</a:t>
            </a:r>
          </a:p>
          <a:p>
            <a:pPr algn="l">
              <a:spcAft>
                <a:spcPts val="1100"/>
              </a:spcAft>
            </a:pPr>
            <a:r>
              <a:rPr sz="1600" b="1">
                <a:solidFill>
                  <a:srgbClr val="2A9D8F"/>
                </a:solidFill>
              </a:rPr>
              <a:t>▸  </a:t>
            </a:r>
            <a:r>
              <a:rPr sz="1600" b="0" i="0">
                <a:solidFill>
                  <a:srgbClr val="222A35"/>
                </a:solidFill>
                <a:latin typeface="Calibri"/>
              </a:rPr>
              <a:t>Peltzman (2000) — "Prices Rise Faster Than They Fall": asymmetric transmission is pervasive across markets.</a:t>
            </a:r>
          </a:p>
          <a:p>
            <a:pPr algn="l">
              <a:spcAft>
                <a:spcPts val="1100"/>
              </a:spcAft>
            </a:pPr>
            <a:r>
              <a:rPr sz="1600" b="1">
                <a:solidFill>
                  <a:srgbClr val="2A9D8F"/>
                </a:solidFill>
              </a:rPr>
              <a:t>▸  </a:t>
            </a:r>
            <a:r>
              <a:rPr sz="1600" b="0" i="0">
                <a:solidFill>
                  <a:srgbClr val="222A35"/>
                </a:solidFill>
                <a:latin typeface="Calibri"/>
              </a:rPr>
              <a:t>Bacon (1991) — coined "rockets and feathers" for fuel retail pricing; the canonical reference for our asymmetry model.</a:t>
            </a:r>
          </a:p>
          <a:p>
            <a:pPr algn="l">
              <a:spcAft>
                <a:spcPts val="1100"/>
              </a:spcAft>
            </a:pPr>
            <a:r>
              <a:rPr sz="1600" b="1">
                <a:solidFill>
                  <a:srgbClr val="2A9D8F"/>
                </a:solidFill>
              </a:rPr>
              <a:t>▸  </a:t>
            </a:r>
            <a:r>
              <a:rPr sz="1600" b="0" i="0">
                <a:solidFill>
                  <a:srgbClr val="222A35"/>
                </a:solidFill>
                <a:latin typeface="Calibri"/>
              </a:rPr>
              <a:t>Meyer &amp; von Cramon-Taubadel (2004) — survey of asymmetric price transmission methods (we use the Error-Correction approach).</a:t>
            </a:r>
          </a:p>
        </p:txBody>
      </p:sp>
      <p:sp>
        <p:nvSpPr>
          <p:cNvPr id="7" name="TextBox 6"/>
          <p:cNvSpPr txBox="1"/>
          <p:nvPr/>
        </p:nvSpPr>
        <p:spPr>
          <a:xfrm>
            <a:off x="6355080" y="1463040"/>
            <a:ext cx="5212080" cy="4572000"/>
          </a:xfrm>
          <a:prstGeom prst="rect">
            <a:avLst/>
          </a:prstGeom>
          <a:noFill/>
        </p:spPr>
        <p:txBody>
          <a:bodyPr wrap="square">
            <a:spAutoFit/>
          </a:bodyPr>
          <a:lstStyle/>
          <a:p>
            <a:pPr algn="l">
              <a:spcAft>
                <a:spcPts val="1100"/>
              </a:spcAft>
            </a:pPr>
            <a:r>
              <a:rPr sz="1600" b="1" i="0">
                <a:solidFill>
                  <a:srgbClr val="1B2A4A"/>
                </a:solidFill>
                <a:latin typeface="Calibri"/>
              </a:rPr>
              <a:t>Comparable products &amp; data</a:t>
            </a:r>
          </a:p>
          <a:p>
            <a:pPr algn="l">
              <a:spcAft>
                <a:spcPts val="1100"/>
              </a:spcAft>
            </a:pPr>
            <a:r>
              <a:rPr sz="1600" b="1">
                <a:solidFill>
                  <a:srgbClr val="2A9D8F"/>
                </a:solidFill>
              </a:rPr>
              <a:t>▸  </a:t>
            </a:r>
            <a:r>
              <a:rPr sz="1600" b="0" i="0">
                <a:solidFill>
                  <a:srgbClr val="222A35"/>
                </a:solidFill>
                <a:latin typeface="Calibri"/>
              </a:rPr>
              <a:t>TÜİK / TCMB publish CPI food indices — aggregate only, no hal↔retail linkage and no province-level margin.</a:t>
            </a:r>
          </a:p>
          <a:p>
            <a:pPr algn="l">
              <a:spcAft>
                <a:spcPts val="1100"/>
              </a:spcAft>
            </a:pPr>
            <a:r>
              <a:rPr sz="1600" b="1">
                <a:solidFill>
                  <a:srgbClr val="2A9D8F"/>
                </a:solidFill>
              </a:rPr>
              <a:t>▸  </a:t>
            </a:r>
            <a:r>
              <a:rPr sz="1600" b="0" i="0">
                <a:solidFill>
                  <a:srgbClr val="222A35"/>
                </a:solidFill>
                <a:latin typeface="Calibri"/>
              </a:rPr>
              <a:t>Commercial price-tracker apps (Marketfiyatı, Cimri) compare retail shelves — but never expose the wholesale margin.</a:t>
            </a:r>
          </a:p>
          <a:p>
            <a:pPr algn="l">
              <a:spcAft>
                <a:spcPts val="1100"/>
              </a:spcAft>
            </a:pPr>
            <a:r>
              <a:rPr sz="1600" b="1">
                <a:solidFill>
                  <a:srgbClr val="2A9D8F"/>
                </a:solidFill>
              </a:rPr>
              <a:t>▸  </a:t>
            </a:r>
            <a:r>
              <a:rPr sz="1600" b="0" i="0">
                <a:solidFill>
                  <a:srgbClr val="222A35"/>
                </a:solidFill>
                <a:latin typeface="Calibri"/>
              </a:rPr>
              <a:t>Remote-sensing crop monitors use Sentinel-2 NDVI to gauge crop health — an input signal we plan to fuse in (roadmap).</a:t>
            </a:r>
          </a:p>
        </p:txBody>
      </p:sp>
      <p:sp>
        <p:nvSpPr>
          <p:cNvPr id="8" name="Rounded Rectangle 7"/>
          <p:cNvSpPr/>
          <p:nvPr/>
        </p:nvSpPr>
        <p:spPr>
          <a:xfrm>
            <a:off x="640080" y="5440680"/>
            <a:ext cx="10908792" cy="7315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Calibri"/>
              </a:rPr>
              <a:t>Our gap: no existing product links wholesale &amp; retail to measure the margin at province scale. That is GıdaRadar's contribution.</a:t>
            </a:r>
          </a:p>
        </p:txBody>
      </p:sp>
      <p:sp>
        <p:nvSpPr>
          <p:cNvPr id="9" name="TextBox 8"/>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0" name="TextBox 9"/>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9 INDEPENDENT FEEDS</a:t>
            </a:r>
          </a:p>
          <a:p>
            <a:pPr algn="l">
              <a:spcAft>
                <a:spcPts val="600"/>
              </a:spcAft>
            </a:pPr>
            <a:r>
              <a:rPr sz="2900" b="1" i="0">
                <a:solidFill>
                  <a:srgbClr val="FFFFFF"/>
                </a:solidFill>
                <a:latin typeface="Calibri"/>
              </a:rPr>
              <a:t>Data Sources</a:t>
            </a:r>
          </a:p>
        </p:txBody>
      </p:sp>
      <p:graphicFrame>
        <p:nvGraphicFramePr>
          <p:cNvPr id="6" name="Table 5"/>
          <p:cNvGraphicFramePr>
            <a:graphicFrameLocks noGrp="1"/>
          </p:cNvGraphicFramePr>
          <p:nvPr/>
        </p:nvGraphicFramePr>
        <p:xfrm>
          <a:off x="640080" y="1371600"/>
          <a:ext cx="10908792" cy="4114800"/>
        </p:xfrm>
        <a:graphic>
          <a:graphicData uri="http://schemas.openxmlformats.org/drawingml/2006/table">
            <a:tbl>
              <a:tblPr firstRow="1" bandRow="1">
                <a:tableStyleId>{5C22544A-7EE6-4342-B048-85BDC9FD1C3A}</a:tableStyleId>
              </a:tblPr>
              <a:tblGrid>
                <a:gridCol w="2743200"/>
                <a:gridCol w="4480560"/>
                <a:gridCol w="1920240"/>
                <a:gridCol w="1764792"/>
              </a:tblGrid>
              <a:tr h="457200">
                <a:tc>
                  <a:txBody>
                    <a:bodyPr/>
                    <a:lstStyle/>
                    <a:p>
                      <a:r>
                        <a:rPr sz="1400" b="1">
                          <a:solidFill>
                            <a:srgbClr val="FFFFFF"/>
                          </a:solidFill>
                          <a:latin typeface="Calibri"/>
                        </a:rPr>
                        <a:t>Source</a:t>
                      </a:r>
                    </a:p>
                  </a:txBody>
                  <a:tcPr anchor="ctr" marL="109728">
                    <a:solidFill>
                      <a:srgbClr val="1B2A4A"/>
                    </a:solidFill>
                  </a:tcPr>
                </a:tc>
                <a:tc>
                  <a:txBody>
                    <a:bodyPr/>
                    <a:lstStyle/>
                    <a:p>
                      <a:r>
                        <a:rPr sz="1400" b="1">
                          <a:solidFill>
                            <a:srgbClr val="FFFFFF"/>
                          </a:solidFill>
                          <a:latin typeface="Calibri"/>
                        </a:rPr>
                        <a:t>Content</a:t>
                      </a:r>
                    </a:p>
                  </a:txBody>
                  <a:tcPr anchor="ctr" marL="109728">
                    <a:solidFill>
                      <a:srgbClr val="1B2A4A"/>
                    </a:solidFill>
                  </a:tcPr>
                </a:tc>
                <a:tc>
                  <a:txBody>
                    <a:bodyPr/>
                    <a:lstStyle/>
                    <a:p>
                      <a:r>
                        <a:rPr sz="1400" b="1">
                          <a:solidFill>
                            <a:srgbClr val="FFFFFF"/>
                          </a:solidFill>
                          <a:latin typeface="Calibri"/>
                        </a:rPr>
                        <a:t>Format</a:t>
                      </a:r>
                    </a:p>
                  </a:txBody>
                  <a:tcPr anchor="ctr" marL="109728">
                    <a:solidFill>
                      <a:srgbClr val="1B2A4A"/>
                    </a:solidFill>
                  </a:tcPr>
                </a:tc>
                <a:tc>
                  <a:txBody>
                    <a:bodyPr/>
                    <a:lstStyle/>
                    <a:p>
                      <a:r>
                        <a:rPr sz="1400" b="1">
                          <a:solidFill>
                            <a:srgbClr val="FFFFFF"/>
                          </a:solidFill>
                          <a:latin typeface="Calibri"/>
                        </a:rPr>
                        <a:t>Cadence</a:t>
                      </a:r>
                    </a:p>
                  </a:txBody>
                  <a:tcPr anchor="ctr" marL="109728">
                    <a:solidFill>
                      <a:srgbClr val="1B2A4A"/>
                    </a:solidFill>
                  </a:tcPr>
                </a:tc>
              </a:tr>
              <a:tr h="457200">
                <a:tc>
                  <a:txBody>
                    <a:bodyPr/>
                    <a:lstStyle/>
                    <a:p>
                      <a:r>
                        <a:rPr sz="1500">
                          <a:solidFill>
                            <a:srgbClr val="222A35"/>
                          </a:solidFill>
                          <a:latin typeface="Calibri"/>
                        </a:rPr>
                        <a:t>marketfiyati.org.tr</a:t>
                      </a:r>
                    </a:p>
                  </a:txBody>
                  <a:tcPr anchor="ctr" marL="109728">
                    <a:solidFill>
                      <a:srgbClr val="F1F3F6"/>
                    </a:solidFill>
                  </a:tcPr>
                </a:tc>
                <a:tc>
                  <a:txBody>
                    <a:bodyPr/>
                    <a:lstStyle/>
                    <a:p>
                      <a:r>
                        <a:rPr sz="1500">
                          <a:solidFill>
                            <a:srgbClr val="222A35"/>
                          </a:solidFill>
                          <a:latin typeface="Calibri"/>
                        </a:rPr>
                        <a:t>Retail prices · 6 chains · 81 cities</a:t>
                      </a:r>
                    </a:p>
                  </a:txBody>
                  <a:tcPr anchor="ctr" marL="109728">
                    <a:solidFill>
                      <a:srgbClr val="F1F3F6"/>
                    </a:solidFill>
                  </a:tcPr>
                </a:tc>
                <a:tc>
                  <a:txBody>
                    <a:bodyPr/>
                    <a:lstStyle/>
                    <a:p>
                      <a:r>
                        <a:rPr sz="1500">
                          <a:solidFill>
                            <a:srgbClr val="222A35"/>
                          </a:solidFill>
                          <a:latin typeface="Calibri"/>
                        </a:rPr>
                        <a:t>REST JSON</a:t>
                      </a:r>
                    </a:p>
                  </a:txBody>
                  <a:tcPr anchor="ctr" marL="109728">
                    <a:solidFill>
                      <a:srgbClr val="F1F3F6"/>
                    </a:solidFill>
                  </a:tcPr>
                </a:tc>
                <a:tc>
                  <a:txBody>
                    <a:bodyPr/>
                    <a:lstStyle/>
                    <a:p>
                      <a:r>
                        <a:rPr sz="1500">
                          <a:solidFill>
                            <a:srgbClr val="222A35"/>
                          </a:solidFill>
                          <a:latin typeface="Calibri"/>
                        </a:rPr>
                        <a:t>Daily</a:t>
                      </a:r>
                    </a:p>
                  </a:txBody>
                  <a:tcPr anchor="ctr" marL="109728">
                    <a:solidFill>
                      <a:srgbClr val="F1F3F6"/>
                    </a:solidFill>
                  </a:tcPr>
                </a:tc>
              </a:tr>
              <a:tr h="457200">
                <a:tc>
                  <a:txBody>
                    <a:bodyPr/>
                    <a:lstStyle/>
                    <a:p>
                      <a:r>
                        <a:rPr sz="1500">
                          <a:solidFill>
                            <a:srgbClr val="222A35"/>
                          </a:solidFill>
                          <a:latin typeface="Calibri"/>
                        </a:rPr>
                        <a:t>İBB &amp; Harman Hal</a:t>
                      </a:r>
                    </a:p>
                  </a:txBody>
                  <a:tcPr anchor="ctr" marL="109728">
                    <a:solidFill>
                      <a:srgbClr val="FFFFFF"/>
                    </a:solidFill>
                  </a:tcPr>
                </a:tc>
                <a:tc>
                  <a:txBody>
                    <a:bodyPr/>
                    <a:lstStyle/>
                    <a:p>
                      <a:r>
                        <a:rPr sz="1500">
                          <a:solidFill>
                            <a:srgbClr val="222A35"/>
                          </a:solidFill>
                          <a:latin typeface="Calibri"/>
                        </a:rPr>
                        <a:t>Wholesale (hal) prices · 10 real cities</a:t>
                      </a:r>
                    </a:p>
                  </a:txBody>
                  <a:tcPr anchor="ctr" marL="109728">
                    <a:solidFill>
                      <a:srgbClr val="FFFFFF"/>
                    </a:solidFill>
                  </a:tcPr>
                </a:tc>
                <a:tc>
                  <a:txBody>
                    <a:bodyPr/>
                    <a:lstStyle/>
                    <a:p>
                      <a:r>
                        <a:rPr sz="1500">
                          <a:solidFill>
                            <a:srgbClr val="222A35"/>
                          </a:solidFill>
                          <a:latin typeface="Calibri"/>
                        </a:rPr>
                        <a:t>HTML / CSV</a:t>
                      </a:r>
                    </a:p>
                  </a:txBody>
                  <a:tcPr anchor="ctr" marL="109728">
                    <a:solidFill>
                      <a:srgbClr val="FFFFFF"/>
                    </a:solidFill>
                  </a:tcPr>
                </a:tc>
                <a:tc>
                  <a:txBody>
                    <a:bodyPr/>
                    <a:lstStyle/>
                    <a:p>
                      <a:r>
                        <a:rPr sz="1500">
                          <a:solidFill>
                            <a:srgbClr val="222A35"/>
                          </a:solidFill>
                          <a:latin typeface="Calibri"/>
                        </a:rPr>
                        <a:t>Daily</a:t>
                      </a:r>
                    </a:p>
                  </a:txBody>
                  <a:tcPr anchor="ctr" marL="109728">
                    <a:solidFill>
                      <a:srgbClr val="FFFFFF"/>
                    </a:solidFill>
                  </a:tcPr>
                </a:tc>
              </a:tr>
              <a:tr h="457200">
                <a:tc>
                  <a:txBody>
                    <a:bodyPr/>
                    <a:lstStyle/>
                    <a:p>
                      <a:r>
                        <a:rPr sz="1500">
                          <a:solidFill>
                            <a:srgbClr val="222A35"/>
                          </a:solidFill>
                          <a:latin typeface="Calibri"/>
                        </a:rPr>
                        <a:t>GDELT (BigQuery)</a:t>
                      </a:r>
                    </a:p>
                  </a:txBody>
                  <a:tcPr anchor="ctr" marL="109728">
                    <a:solidFill>
                      <a:srgbClr val="F1F3F6"/>
                    </a:solidFill>
                  </a:tcPr>
                </a:tc>
                <a:tc>
                  <a:txBody>
                    <a:bodyPr/>
                    <a:lstStyle/>
                    <a:p>
                      <a:r>
                        <a:rPr sz="1500">
                          <a:solidFill>
                            <a:srgbClr val="222A35"/>
                          </a:solidFill>
                          <a:latin typeface="Calibri"/>
                        </a:rPr>
                        <a:t>Global food/agri news tone &amp; themes</a:t>
                      </a:r>
                    </a:p>
                  </a:txBody>
                  <a:tcPr anchor="ctr" marL="109728">
                    <a:solidFill>
                      <a:srgbClr val="F1F3F6"/>
                    </a:solidFill>
                  </a:tcPr>
                </a:tc>
                <a:tc>
                  <a:txBody>
                    <a:bodyPr/>
                    <a:lstStyle/>
                    <a:p>
                      <a:r>
                        <a:rPr sz="1500">
                          <a:solidFill>
                            <a:srgbClr val="222A35"/>
                          </a:solidFill>
                          <a:latin typeface="Calibri"/>
                        </a:rPr>
                        <a:t>Parquet</a:t>
                      </a:r>
                    </a:p>
                  </a:txBody>
                  <a:tcPr anchor="ctr" marL="109728">
                    <a:solidFill>
                      <a:srgbClr val="F1F3F6"/>
                    </a:solidFill>
                  </a:tcPr>
                </a:tc>
                <a:tc>
                  <a:txBody>
                    <a:bodyPr/>
                    <a:lstStyle/>
                    <a:p>
                      <a:r>
                        <a:rPr sz="1500">
                          <a:solidFill>
                            <a:srgbClr val="222A35"/>
                          </a:solidFill>
                          <a:latin typeface="Calibri"/>
                        </a:rPr>
                        <a:t>15-min batch</a:t>
                      </a:r>
                    </a:p>
                  </a:txBody>
                  <a:tcPr anchor="ctr" marL="109728">
                    <a:solidFill>
                      <a:srgbClr val="F1F3F6"/>
                    </a:solidFill>
                  </a:tcPr>
                </a:tc>
              </a:tr>
              <a:tr h="457200">
                <a:tc>
                  <a:txBody>
                    <a:bodyPr/>
                    <a:lstStyle/>
                    <a:p>
                      <a:r>
                        <a:rPr sz="1500">
                          <a:solidFill>
                            <a:srgbClr val="222A35"/>
                          </a:solidFill>
                          <a:latin typeface="Calibri"/>
                        </a:rPr>
                        <a:t>EPİAŞ</a:t>
                      </a:r>
                    </a:p>
                  </a:txBody>
                  <a:tcPr anchor="ctr" marL="109728">
                    <a:solidFill>
                      <a:srgbClr val="FFFFFF"/>
                    </a:solidFill>
                  </a:tcPr>
                </a:tc>
                <a:tc>
                  <a:txBody>
                    <a:bodyPr/>
                    <a:lstStyle/>
                    <a:p>
                      <a:r>
                        <a:rPr sz="1500">
                          <a:solidFill>
                            <a:srgbClr val="222A35"/>
                          </a:solidFill>
                          <a:latin typeface="Calibri"/>
                        </a:rPr>
                        <a:t>Electricity &amp; gas market · 26 datasets</a:t>
                      </a:r>
                    </a:p>
                  </a:txBody>
                  <a:tcPr anchor="ctr" marL="109728">
                    <a:solidFill>
                      <a:srgbClr val="FFFFFF"/>
                    </a:solidFill>
                  </a:tcPr>
                </a:tc>
                <a:tc>
                  <a:txBody>
                    <a:bodyPr/>
                    <a:lstStyle/>
                    <a:p>
                      <a:r>
                        <a:rPr sz="1500">
                          <a:solidFill>
                            <a:srgbClr val="222A35"/>
                          </a:solidFill>
                          <a:latin typeface="Calibri"/>
                        </a:rPr>
                        <a:t>REST JSON</a:t>
                      </a:r>
                    </a:p>
                  </a:txBody>
                  <a:tcPr anchor="ctr" marL="109728">
                    <a:solidFill>
                      <a:srgbClr val="FFFFFF"/>
                    </a:solidFill>
                  </a:tcPr>
                </a:tc>
                <a:tc>
                  <a:txBody>
                    <a:bodyPr/>
                    <a:lstStyle/>
                    <a:p>
                      <a:r>
                        <a:rPr sz="1500">
                          <a:solidFill>
                            <a:srgbClr val="222A35"/>
                          </a:solidFill>
                          <a:latin typeface="Calibri"/>
                        </a:rPr>
                        <a:t>Hourly</a:t>
                      </a:r>
                    </a:p>
                  </a:txBody>
                  <a:tcPr anchor="ctr" marL="109728">
                    <a:solidFill>
                      <a:srgbClr val="FFFFFF"/>
                    </a:solidFill>
                  </a:tcPr>
                </a:tc>
              </a:tr>
              <a:tr h="457200">
                <a:tc>
                  <a:txBody>
                    <a:bodyPr/>
                    <a:lstStyle/>
                    <a:p>
                      <a:r>
                        <a:rPr sz="1500">
                          <a:solidFill>
                            <a:srgbClr val="222A35"/>
                          </a:solidFill>
                          <a:latin typeface="Calibri"/>
                        </a:rPr>
                        <a:t>TCMB EVDS</a:t>
                      </a:r>
                    </a:p>
                  </a:txBody>
                  <a:tcPr anchor="ctr" marL="109728">
                    <a:solidFill>
                      <a:srgbClr val="F1F3F6"/>
                    </a:solidFill>
                  </a:tcPr>
                </a:tc>
                <a:tc>
                  <a:txBody>
                    <a:bodyPr/>
                    <a:lstStyle/>
                    <a:p>
                      <a:r>
                        <a:rPr sz="1500">
                          <a:solidFill>
                            <a:srgbClr val="222A35"/>
                          </a:solidFill>
                          <a:latin typeface="Calibri"/>
                        </a:rPr>
                        <a:t>FX rates, CPI-food, credit rates</a:t>
                      </a:r>
                    </a:p>
                  </a:txBody>
                  <a:tcPr anchor="ctr" marL="109728">
                    <a:solidFill>
                      <a:srgbClr val="F1F3F6"/>
                    </a:solidFill>
                  </a:tcPr>
                </a:tc>
                <a:tc>
                  <a:txBody>
                    <a:bodyPr/>
                    <a:lstStyle/>
                    <a:p>
                      <a:r>
                        <a:rPr sz="1500">
                          <a:solidFill>
                            <a:srgbClr val="222A35"/>
                          </a:solidFill>
                          <a:latin typeface="Calibri"/>
                        </a:rPr>
                        <a:t>REST JSON</a:t>
                      </a:r>
                    </a:p>
                  </a:txBody>
                  <a:tcPr anchor="ctr" marL="109728">
                    <a:solidFill>
                      <a:srgbClr val="F1F3F6"/>
                    </a:solidFill>
                  </a:tcPr>
                </a:tc>
                <a:tc>
                  <a:txBody>
                    <a:bodyPr/>
                    <a:lstStyle/>
                    <a:p>
                      <a:r>
                        <a:rPr sz="1500">
                          <a:solidFill>
                            <a:srgbClr val="222A35"/>
                          </a:solidFill>
                          <a:latin typeface="Calibri"/>
                        </a:rPr>
                        <a:t>Daily / Monthly</a:t>
                      </a:r>
                    </a:p>
                  </a:txBody>
                  <a:tcPr anchor="ctr" marL="109728">
                    <a:solidFill>
                      <a:srgbClr val="F1F3F6"/>
                    </a:solidFill>
                  </a:tcPr>
                </a:tc>
              </a:tr>
              <a:tr h="457200">
                <a:tc>
                  <a:txBody>
                    <a:bodyPr/>
                    <a:lstStyle/>
                    <a:p>
                      <a:r>
                        <a:rPr sz="1500">
                          <a:solidFill>
                            <a:srgbClr val="222A35"/>
                          </a:solidFill>
                          <a:latin typeface="Calibri"/>
                        </a:rPr>
                        <a:t>Open-Meteo</a:t>
                      </a:r>
                    </a:p>
                  </a:txBody>
                  <a:tcPr anchor="ctr" marL="109728">
                    <a:solidFill>
                      <a:srgbClr val="FFFFFF"/>
                    </a:solidFill>
                  </a:tcPr>
                </a:tc>
                <a:tc>
                  <a:txBody>
                    <a:bodyPr/>
                    <a:lstStyle/>
                    <a:p>
                      <a:r>
                        <a:rPr sz="1500">
                          <a:solidFill>
                            <a:srgbClr val="222A35"/>
                          </a:solidFill>
                          <a:latin typeface="Calibri"/>
                        </a:rPr>
                        <a:t>Weather · 81 cities · frost/heat/rain</a:t>
                      </a:r>
                    </a:p>
                  </a:txBody>
                  <a:tcPr anchor="ctr" marL="109728">
                    <a:solidFill>
                      <a:srgbClr val="FFFFFF"/>
                    </a:solidFill>
                  </a:tcPr>
                </a:tc>
                <a:tc>
                  <a:txBody>
                    <a:bodyPr/>
                    <a:lstStyle/>
                    <a:p>
                      <a:r>
                        <a:rPr sz="1500">
                          <a:solidFill>
                            <a:srgbClr val="222A35"/>
                          </a:solidFill>
                          <a:latin typeface="Calibri"/>
                        </a:rPr>
                        <a:t>REST JSON</a:t>
                      </a:r>
                    </a:p>
                  </a:txBody>
                  <a:tcPr anchor="ctr" marL="109728">
                    <a:solidFill>
                      <a:srgbClr val="FFFFFF"/>
                    </a:solidFill>
                  </a:tcPr>
                </a:tc>
                <a:tc>
                  <a:txBody>
                    <a:bodyPr/>
                    <a:lstStyle/>
                    <a:p>
                      <a:r>
                        <a:rPr sz="1500">
                          <a:solidFill>
                            <a:srgbClr val="222A35"/>
                          </a:solidFill>
                          <a:latin typeface="Calibri"/>
                        </a:rPr>
                        <a:t>Hourly</a:t>
                      </a:r>
                    </a:p>
                  </a:txBody>
                  <a:tcPr anchor="ctr" marL="109728">
                    <a:solidFill>
                      <a:srgbClr val="FFFFFF"/>
                    </a:solidFill>
                  </a:tcPr>
                </a:tc>
              </a:tr>
              <a:tr h="457200">
                <a:tc>
                  <a:txBody>
                    <a:bodyPr/>
                    <a:lstStyle/>
                    <a:p>
                      <a:r>
                        <a:rPr sz="1500">
                          <a:solidFill>
                            <a:srgbClr val="222A35"/>
                          </a:solidFill>
                          <a:latin typeface="Calibri"/>
                        </a:rPr>
                        <a:t>Akaryakıt</a:t>
                      </a:r>
                    </a:p>
                  </a:txBody>
                  <a:tcPr anchor="ctr" marL="109728">
                    <a:solidFill>
                      <a:srgbClr val="F1F3F6"/>
                    </a:solidFill>
                  </a:tcPr>
                </a:tc>
                <a:tc>
                  <a:txBody>
                    <a:bodyPr/>
                    <a:lstStyle/>
                    <a:p>
                      <a:r>
                        <a:rPr sz="1500">
                          <a:solidFill>
                            <a:srgbClr val="222A35"/>
                          </a:solidFill>
                          <a:latin typeface="Calibri"/>
                        </a:rPr>
                        <a:t>Fuel prices · 81 cities (logistics cost)</a:t>
                      </a:r>
                    </a:p>
                  </a:txBody>
                  <a:tcPr anchor="ctr" marL="109728">
                    <a:solidFill>
                      <a:srgbClr val="F1F3F6"/>
                    </a:solidFill>
                  </a:tcPr>
                </a:tc>
                <a:tc>
                  <a:txBody>
                    <a:bodyPr/>
                    <a:lstStyle/>
                    <a:p>
                      <a:r>
                        <a:rPr sz="1500">
                          <a:solidFill>
                            <a:srgbClr val="222A35"/>
                          </a:solidFill>
                          <a:latin typeface="Calibri"/>
                        </a:rPr>
                        <a:t>REST JSON</a:t>
                      </a:r>
                    </a:p>
                  </a:txBody>
                  <a:tcPr anchor="ctr" marL="109728">
                    <a:solidFill>
                      <a:srgbClr val="F1F3F6"/>
                    </a:solidFill>
                  </a:tcPr>
                </a:tc>
                <a:tc>
                  <a:txBody>
                    <a:bodyPr/>
                    <a:lstStyle/>
                    <a:p>
                      <a:r>
                        <a:rPr sz="1500">
                          <a:solidFill>
                            <a:srgbClr val="222A35"/>
                          </a:solidFill>
                          <a:latin typeface="Calibri"/>
                        </a:rPr>
                        <a:t>Daily</a:t>
                      </a:r>
                    </a:p>
                  </a:txBody>
                  <a:tcPr anchor="ctr" marL="109728">
                    <a:solidFill>
                      <a:srgbClr val="F1F3F6"/>
                    </a:solidFill>
                  </a:tcPr>
                </a:tc>
              </a:tr>
              <a:tr h="457200">
                <a:tc>
                  <a:txBody>
                    <a:bodyPr/>
                    <a:lstStyle/>
                    <a:p>
                      <a:r>
                        <a:rPr sz="1500">
                          <a:solidFill>
                            <a:srgbClr val="222A35"/>
                          </a:solidFill>
                          <a:latin typeface="Calibri"/>
                        </a:rPr>
                        <a:t>Yahoo Finance</a:t>
                      </a:r>
                    </a:p>
                  </a:txBody>
                  <a:tcPr anchor="ctr" marL="109728">
                    <a:solidFill>
                      <a:srgbClr val="FFFFFF"/>
                    </a:solidFill>
                  </a:tcPr>
                </a:tc>
                <a:tc>
                  <a:txBody>
                    <a:bodyPr/>
                    <a:lstStyle/>
                    <a:p>
                      <a:r>
                        <a:rPr sz="1500">
                          <a:solidFill>
                            <a:srgbClr val="222A35"/>
                          </a:solidFill>
                          <a:latin typeface="Calibri"/>
                        </a:rPr>
                        <a:t>Global commodities (wheat, brent...)</a:t>
                      </a:r>
                    </a:p>
                  </a:txBody>
                  <a:tcPr anchor="ctr" marL="109728">
                    <a:solidFill>
                      <a:srgbClr val="FFFFFF"/>
                    </a:solidFill>
                  </a:tcPr>
                </a:tc>
                <a:tc>
                  <a:txBody>
                    <a:bodyPr/>
                    <a:lstStyle/>
                    <a:p>
                      <a:r>
                        <a:rPr sz="1500">
                          <a:solidFill>
                            <a:srgbClr val="222A35"/>
                          </a:solidFill>
                          <a:latin typeface="Calibri"/>
                        </a:rPr>
                        <a:t>REST JSON</a:t>
                      </a:r>
                    </a:p>
                  </a:txBody>
                  <a:tcPr anchor="ctr" marL="109728">
                    <a:solidFill>
                      <a:srgbClr val="FFFFFF"/>
                    </a:solidFill>
                  </a:tcPr>
                </a:tc>
                <a:tc>
                  <a:txBody>
                    <a:bodyPr/>
                    <a:lstStyle/>
                    <a:p>
                      <a:r>
                        <a:rPr sz="1500">
                          <a:solidFill>
                            <a:srgbClr val="222A35"/>
                          </a:solidFill>
                          <a:latin typeface="Calibri"/>
                        </a:rPr>
                        <a:t>Daily</a:t>
                      </a:r>
                    </a:p>
                  </a:txBody>
                  <a:tcPr anchor="ctr" marL="109728">
                    <a:solidFill>
                      <a:srgbClr val="FFFFFF"/>
                    </a:solidFill>
                  </a:tcPr>
                </a:tc>
              </a:tr>
            </a:tbl>
          </a:graphicData>
        </a:graphic>
      </p:graphicFrame>
      <p:sp>
        <p:nvSpPr>
          <p:cNvPr id="7" name="TextBox 6"/>
          <p:cNvSpPr txBox="1"/>
          <p:nvPr/>
        </p:nvSpPr>
        <p:spPr>
          <a:xfrm>
            <a:off x="640080" y="5623560"/>
            <a:ext cx="10908792" cy="731520"/>
          </a:xfrm>
          <a:prstGeom prst="rect">
            <a:avLst/>
          </a:prstGeom>
          <a:noFill/>
        </p:spPr>
        <p:txBody>
          <a:bodyPr wrap="square">
            <a:spAutoFit/>
          </a:bodyPr>
          <a:lstStyle/>
          <a:p>
            <a:pPr algn="ctr">
              <a:spcAft>
                <a:spcPts val="600"/>
              </a:spcAft>
            </a:pPr>
            <a:r>
              <a:rPr sz="1600" b="0" i="1">
                <a:solidFill>
                  <a:srgbClr val="5B6677"/>
                </a:solidFill>
                <a:latin typeface="Calibri"/>
              </a:rPr>
              <a:t>5 formats · 5 cadences (15-min → monthly) · merged on a common (date, city, product) key in the Silver layer.</a:t>
            </a:r>
          </a:p>
        </p:txBody>
      </p:sp>
      <p:sp>
        <p:nvSpPr>
          <p:cNvPr id="8" name="TextBox 7"/>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9" name="TextBox 8"/>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GETTING THE RAW DATA IN</a:t>
            </a:r>
          </a:p>
          <a:p>
            <a:pPr algn="l">
              <a:spcAft>
                <a:spcPts val="600"/>
              </a:spcAft>
            </a:pPr>
            <a:r>
              <a:rPr sz="2900" b="1" i="0">
                <a:solidFill>
                  <a:srgbClr val="FFFFFF"/>
                </a:solidFill>
                <a:latin typeface="Calibri"/>
              </a:rPr>
              <a:t>Data Collection — Scraping</a:t>
            </a:r>
          </a:p>
        </p:txBody>
      </p:sp>
      <p:sp>
        <p:nvSpPr>
          <p:cNvPr id="6" name="TextBox 5"/>
          <p:cNvSpPr txBox="1"/>
          <p:nvPr/>
        </p:nvSpPr>
        <p:spPr>
          <a:xfrm>
            <a:off x="640080" y="1280160"/>
            <a:ext cx="10972800" cy="548640"/>
          </a:xfrm>
          <a:prstGeom prst="rect">
            <a:avLst/>
          </a:prstGeom>
          <a:noFill/>
        </p:spPr>
        <p:txBody>
          <a:bodyPr wrap="square">
            <a:spAutoFit/>
          </a:bodyPr>
          <a:lstStyle/>
          <a:p>
            <a:pPr algn="l">
              <a:spcAft>
                <a:spcPts val="600"/>
              </a:spcAft>
            </a:pPr>
            <a:r>
              <a:rPr sz="1600" b="0" i="1">
                <a:solidFill>
                  <a:srgbClr val="5B6677"/>
                </a:solidFill>
                <a:latin typeface="Calibri"/>
              </a:rPr>
              <a:t>Each source needed its own technique — no two feeds were alike.</a:t>
            </a:r>
          </a:p>
        </p:txBody>
      </p:sp>
      <p:sp>
        <p:nvSpPr>
          <p:cNvPr id="7" name="Rounded Rectangle 6"/>
          <p:cNvSpPr/>
          <p:nvPr/>
        </p:nvSpPr>
        <p:spPr>
          <a:xfrm>
            <a:off x="640080" y="1965960"/>
            <a:ext cx="5349240" cy="16002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965960"/>
            <a:ext cx="146304" cy="160020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2084831"/>
            <a:ext cx="4892040" cy="1417320"/>
          </a:xfrm>
          <a:prstGeom prst="rect">
            <a:avLst/>
          </a:prstGeom>
          <a:noFill/>
        </p:spPr>
        <p:txBody>
          <a:bodyPr wrap="square">
            <a:spAutoFit/>
          </a:bodyPr>
          <a:lstStyle/>
          <a:p>
            <a:pPr algn="l">
              <a:spcAft>
                <a:spcPts val="500"/>
              </a:spcAft>
            </a:pPr>
            <a:r>
              <a:rPr sz="1700" b="1" i="0">
                <a:solidFill>
                  <a:srgbClr val="E76F51"/>
                </a:solidFill>
                <a:latin typeface="Calibri"/>
              </a:rPr>
              <a:t>Adaptive grid search</a:t>
            </a:r>
          </a:p>
          <a:p>
            <a:pPr algn="l">
              <a:spcAft>
                <a:spcPts val="600"/>
              </a:spcAft>
            </a:pPr>
            <a:r>
              <a:rPr sz="1350" b="0" i="0">
                <a:solidFill>
                  <a:srgbClr val="222A35"/>
                </a:solidFill>
                <a:latin typeface="Calibri"/>
              </a:rPr>
              <a:t>marketfiyati API returns depots near one point only. We tile each district's bounding box into a grid → depots per district jump from ~14 to 629.</a:t>
            </a:r>
          </a:p>
        </p:txBody>
      </p:sp>
      <p:sp>
        <p:nvSpPr>
          <p:cNvPr id="10" name="Rounded Rectangle 9"/>
          <p:cNvSpPr/>
          <p:nvPr/>
        </p:nvSpPr>
        <p:spPr>
          <a:xfrm>
            <a:off x="6217920" y="1965960"/>
            <a:ext cx="5349240" cy="16002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965960"/>
            <a:ext cx="146304" cy="16002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2084831"/>
            <a:ext cx="4892040" cy="1417320"/>
          </a:xfrm>
          <a:prstGeom prst="rect">
            <a:avLst/>
          </a:prstGeom>
          <a:noFill/>
        </p:spPr>
        <p:txBody>
          <a:bodyPr wrap="square">
            <a:spAutoFit/>
          </a:bodyPr>
          <a:lstStyle/>
          <a:p>
            <a:pPr algn="l">
              <a:spcAft>
                <a:spcPts val="500"/>
              </a:spcAft>
            </a:pPr>
            <a:r>
              <a:rPr sz="1700" b="1" i="0">
                <a:solidFill>
                  <a:srgbClr val="1B2A4A"/>
                </a:solidFill>
                <a:latin typeface="Calibri"/>
              </a:rPr>
              <a:t>Headless browser</a:t>
            </a:r>
          </a:p>
          <a:p>
            <a:pPr algn="l">
              <a:spcAft>
                <a:spcPts val="600"/>
              </a:spcAft>
            </a:pPr>
            <a:r>
              <a:rPr sz="1350" b="0" i="0">
                <a:solidFill>
                  <a:srgbClr val="222A35"/>
                </a:solidFill>
                <a:latin typeface="Calibri"/>
              </a:rPr>
              <a:t>İBB hal portal renders prices with JavaScript → Selenium + headless Chrome drives the page and reads the table.</a:t>
            </a:r>
          </a:p>
        </p:txBody>
      </p:sp>
      <p:sp>
        <p:nvSpPr>
          <p:cNvPr id="13" name="Rounded Rectangle 12"/>
          <p:cNvSpPr/>
          <p:nvPr/>
        </p:nvSpPr>
        <p:spPr>
          <a:xfrm>
            <a:off x="640080" y="3749039"/>
            <a:ext cx="5349240" cy="16002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3749039"/>
            <a:ext cx="146304" cy="16002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867911"/>
            <a:ext cx="4892040" cy="1417320"/>
          </a:xfrm>
          <a:prstGeom prst="rect">
            <a:avLst/>
          </a:prstGeom>
          <a:noFill/>
        </p:spPr>
        <p:txBody>
          <a:bodyPr wrap="square">
            <a:spAutoFit/>
          </a:bodyPr>
          <a:lstStyle/>
          <a:p>
            <a:pPr algn="l">
              <a:spcAft>
                <a:spcPts val="500"/>
              </a:spcAft>
            </a:pPr>
            <a:r>
              <a:rPr sz="1700" b="1" i="0">
                <a:solidFill>
                  <a:srgbClr val="2A9D8F"/>
                </a:solidFill>
                <a:latin typeface="Calibri"/>
              </a:rPr>
              <a:t>Cloudflare bypass</a:t>
            </a:r>
          </a:p>
          <a:p>
            <a:pPr algn="l">
              <a:spcAft>
                <a:spcPts val="600"/>
              </a:spcAft>
            </a:pPr>
            <a:r>
              <a:rPr sz="1350" b="0" i="0">
                <a:solidFill>
                  <a:srgbClr val="222A35"/>
                </a:solidFill>
                <a:latin typeface="Calibri"/>
              </a:rPr>
              <a:t>Harman hal is behind Cloudflare → curl_cffi with Chrome TLS fingerprint impersonation gets through cleanly.</a:t>
            </a:r>
          </a:p>
        </p:txBody>
      </p:sp>
      <p:sp>
        <p:nvSpPr>
          <p:cNvPr id="16" name="Rounded Rectangle 15"/>
          <p:cNvSpPr/>
          <p:nvPr/>
        </p:nvSpPr>
        <p:spPr>
          <a:xfrm>
            <a:off x="6217920" y="3749039"/>
            <a:ext cx="5349240" cy="16002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3749039"/>
            <a:ext cx="146304" cy="160020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3867911"/>
            <a:ext cx="4892040" cy="1417320"/>
          </a:xfrm>
          <a:prstGeom prst="rect">
            <a:avLst/>
          </a:prstGeom>
          <a:noFill/>
        </p:spPr>
        <p:txBody>
          <a:bodyPr wrap="square">
            <a:spAutoFit/>
          </a:bodyPr>
          <a:lstStyle/>
          <a:p>
            <a:pPr algn="l">
              <a:spcAft>
                <a:spcPts val="500"/>
              </a:spcAft>
            </a:pPr>
            <a:r>
              <a:rPr sz="1700" b="1" i="0">
                <a:solidFill>
                  <a:srgbClr val="E9C46A"/>
                </a:solidFill>
                <a:latin typeface="Calibri"/>
              </a:rPr>
              <a:t>BigQuery extract</a:t>
            </a:r>
          </a:p>
          <a:p>
            <a:pPr algn="l">
              <a:spcAft>
                <a:spcPts val="600"/>
              </a:spcAft>
            </a:pPr>
            <a:r>
              <a:rPr sz="1350" b="0" i="0">
                <a:solidFill>
                  <a:srgbClr val="222A35"/>
                </a:solidFill>
                <a:latin typeface="Calibri"/>
              </a:rPr>
              <a:t>GDELT GKG is queried in BigQuery (themes × countries) and written straight to S3 Parquet — parallel workers, 1 TB/mo free tier.</a:t>
            </a:r>
          </a:p>
        </p:txBody>
      </p:sp>
      <p:sp>
        <p:nvSpPr>
          <p:cNvPr id="19" name="Rounded Rectangle 18"/>
          <p:cNvSpPr/>
          <p:nvPr/>
        </p:nvSpPr>
        <p:spPr>
          <a:xfrm>
            <a:off x="640080" y="5532120"/>
            <a:ext cx="10908792" cy="713232"/>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400" b="1" i="0">
                <a:solidFill>
                  <a:srgbClr val="FFFFFF"/>
                </a:solidFill>
                <a:latin typeface="Calibri"/>
              </a:rPr>
              <a:t>Shared backbone: async I/O · exponential-backoff rate limiting · incremental state.json (only scrape what is stale).</a:t>
            </a:r>
          </a:p>
        </p:txBody>
      </p:sp>
      <p:sp>
        <p:nvSpPr>
          <p:cNvPr id="20" name="TextBox 1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21" name="TextBox 2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REACHING 2016 WITH RIGOR</a:t>
            </a:r>
          </a:p>
          <a:p>
            <a:pPr algn="l">
              <a:spcAft>
                <a:spcPts val="600"/>
              </a:spcAft>
            </a:pPr>
            <a:r>
              <a:rPr sz="2900" b="1" i="0">
                <a:solidFill>
                  <a:srgbClr val="FFFFFF"/>
                </a:solidFill>
                <a:latin typeface="Calibri"/>
              </a:rPr>
              <a:t>Synthetic Backfill</a:t>
            </a:r>
          </a:p>
        </p:txBody>
      </p:sp>
      <p:sp>
        <p:nvSpPr>
          <p:cNvPr id="6" name="TextBox 5"/>
          <p:cNvSpPr txBox="1"/>
          <p:nvPr/>
        </p:nvSpPr>
        <p:spPr>
          <a:xfrm>
            <a:off x="640080" y="1280160"/>
            <a:ext cx="11155680" cy="868680"/>
          </a:xfrm>
          <a:prstGeom prst="rect">
            <a:avLst/>
          </a:prstGeom>
          <a:noFill/>
        </p:spPr>
        <p:txBody>
          <a:bodyPr wrap="square">
            <a:spAutoFit/>
          </a:bodyPr>
          <a:lstStyle/>
          <a:p>
            <a:pPr algn="l">
              <a:spcAft>
                <a:spcPts val="600"/>
              </a:spcAft>
            </a:pPr>
            <a:r>
              <a:rPr sz="1600" b="0" i="0">
                <a:solidFill>
                  <a:srgbClr val="222A35"/>
                </a:solidFill>
                <a:latin typeface="Calibri"/>
              </a:rPr>
              <a:t>Retail history before 2026 is not public, and hal data is real for only 10 cities. To study the pandemic and long trends we generate a rigorous 2016–2026 synthetic backfill for the rest.</a:t>
            </a:r>
          </a:p>
        </p:txBody>
      </p:sp>
      <p:sp>
        <p:nvSpPr>
          <p:cNvPr id="7" name="Rounded Rectangle 6"/>
          <p:cNvSpPr/>
          <p:nvPr/>
        </p:nvSpPr>
        <p:spPr>
          <a:xfrm>
            <a:off x="640080" y="2377440"/>
            <a:ext cx="2468880" cy="105156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300" b="1" i="0">
                <a:solidFill>
                  <a:srgbClr val="FFFFFF"/>
                </a:solidFill>
                <a:latin typeface="Calibri"/>
              </a:rPr>
              <a:t>Base price
(2026 real scrape)</a:t>
            </a:r>
          </a:p>
        </p:txBody>
      </p:sp>
      <p:sp>
        <p:nvSpPr>
          <p:cNvPr id="8" name="Chevron 7"/>
          <p:cNvSpPr/>
          <p:nvPr/>
        </p:nvSpPr>
        <p:spPr>
          <a:xfrm>
            <a:off x="3035807" y="2761488"/>
            <a:ext cx="256032"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82111" y="2377440"/>
            <a:ext cx="2468880" cy="105156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300" b="1" i="0">
                <a:solidFill>
                  <a:srgbClr val="FFFFFF"/>
                </a:solidFill>
                <a:latin typeface="Calibri"/>
              </a:rPr>
              <a:t>× Inflation deflator
(TCMB fresh-produce CPI)</a:t>
            </a:r>
          </a:p>
        </p:txBody>
      </p:sp>
      <p:sp>
        <p:nvSpPr>
          <p:cNvPr id="10" name="Chevron 9"/>
          <p:cNvSpPr/>
          <p:nvPr/>
        </p:nvSpPr>
        <p:spPr>
          <a:xfrm>
            <a:off x="5577840" y="2761488"/>
            <a:ext cx="256032"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24144" y="2377440"/>
            <a:ext cx="2468880" cy="105156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300" b="1" i="0">
                <a:solidFill>
                  <a:srgbClr val="FFFFFF"/>
                </a:solidFill>
                <a:latin typeface="Calibri"/>
              </a:rPr>
              <a:t>× Seasonal profile
(per-crop harvest curve)</a:t>
            </a:r>
          </a:p>
        </p:txBody>
      </p:sp>
      <p:sp>
        <p:nvSpPr>
          <p:cNvPr id="12" name="Chevron 11"/>
          <p:cNvSpPr/>
          <p:nvPr/>
        </p:nvSpPr>
        <p:spPr>
          <a:xfrm>
            <a:off x="8119871" y="2761488"/>
            <a:ext cx="256032"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266175" y="2377440"/>
            <a:ext cx="2468880" cy="105156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300" b="1" i="0">
                <a:solidFill>
                  <a:srgbClr val="FFFFFF"/>
                </a:solidFill>
                <a:latin typeface="Calibri"/>
              </a:rPr>
              <a:t>× Deterministic noise
(seeded ±4-5%)</a:t>
            </a:r>
          </a:p>
        </p:txBody>
      </p:sp>
      <p:sp>
        <p:nvSpPr>
          <p:cNvPr id="14" name="TextBox 13"/>
          <p:cNvSpPr txBox="1"/>
          <p:nvPr/>
        </p:nvSpPr>
        <p:spPr>
          <a:xfrm>
            <a:off x="640080" y="3794760"/>
            <a:ext cx="10972800" cy="1828800"/>
          </a:xfrm>
          <a:prstGeom prst="rect">
            <a:avLst/>
          </a:prstGeom>
          <a:noFill/>
        </p:spPr>
        <p:txBody>
          <a:bodyPr wrap="square">
            <a:spAutoFit/>
          </a:bodyPr>
          <a:lstStyle/>
          <a:p>
            <a:pPr algn="l">
              <a:spcAft>
                <a:spcPts val="1200"/>
              </a:spcAft>
            </a:pPr>
            <a:r>
              <a:rPr sz="1600" b="1">
                <a:solidFill>
                  <a:srgbClr val="2A9D8F"/>
                </a:solidFill>
              </a:rPr>
              <a:t>▸  </a:t>
            </a:r>
            <a:r>
              <a:rPr sz="1600" b="0" i="0">
                <a:solidFill>
                  <a:srgbClr val="222A35"/>
                </a:solidFill>
                <a:latin typeface="Calibri"/>
              </a:rPr>
              <a:t>Inflation anchor — TCMB fresh fruit &amp; vegetable index — 26.3× cumulative food inflation from 2016 to 2026.</a:t>
            </a:r>
          </a:p>
          <a:p>
            <a:pPr algn="l">
              <a:spcAft>
                <a:spcPts val="1200"/>
              </a:spcAft>
            </a:pPr>
            <a:r>
              <a:rPr sz="1600" b="1">
                <a:solidFill>
                  <a:srgbClr val="2A9D8F"/>
                </a:solidFill>
              </a:rPr>
              <a:t>▸  </a:t>
            </a:r>
            <a:r>
              <a:rPr sz="1600" b="0" i="0">
                <a:solidFill>
                  <a:srgbClr val="222A35"/>
                </a:solidFill>
                <a:latin typeface="Calibri"/>
              </a:rPr>
              <a:t>Reproducible — Noise seed = hash(product+date+depot) → identical output on every run, fully auditable.</a:t>
            </a:r>
          </a:p>
          <a:p>
            <a:pPr algn="l">
              <a:spcAft>
                <a:spcPts val="1200"/>
              </a:spcAft>
            </a:pPr>
            <a:r>
              <a:rPr sz="1600" b="1">
                <a:solidFill>
                  <a:srgbClr val="2A9D8F"/>
                </a:solidFill>
              </a:rPr>
              <a:t>▸  </a:t>
            </a:r>
            <a:r>
              <a:rPr sz="1600" b="0" i="0">
                <a:solidFill>
                  <a:srgbClr val="222A35"/>
                </a:solidFill>
                <a:latin typeface="Calibri"/>
              </a:rPr>
              <a:t>Honestly labelled — Every synthetic row carries veri_turu = 'sentetik'; real vs. synthetic is never mixed silently.</a:t>
            </a:r>
          </a:p>
        </p:txBody>
      </p:sp>
      <p:sp>
        <p:nvSpPr>
          <p:cNvPr id="15" name="TextBox 14"/>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6" name="TextBox 15"/>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BUILT TO GROW</a:t>
            </a:r>
          </a:p>
          <a:p>
            <a:pPr algn="l">
              <a:spcAft>
                <a:spcPts val="600"/>
              </a:spcAft>
            </a:pPr>
            <a:r>
              <a:rPr sz="2900" b="1" i="0">
                <a:solidFill>
                  <a:srgbClr val="FFFFFF"/>
                </a:solidFill>
                <a:latin typeface="Calibri"/>
              </a:rPr>
              <a:t>Big Data Scale</a:t>
            </a:r>
          </a:p>
        </p:txBody>
      </p:sp>
      <p:sp>
        <p:nvSpPr>
          <p:cNvPr id="6" name="Rounded Rectangle 5"/>
          <p:cNvSpPr/>
          <p:nvPr/>
        </p:nvSpPr>
        <p:spPr>
          <a:xfrm>
            <a:off x="640080" y="1463040"/>
            <a:ext cx="2615184" cy="173736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3200" b="1" i="0">
                <a:solidFill>
                  <a:srgbClr val="E9C46A"/>
                </a:solidFill>
                <a:latin typeface="Calibri"/>
              </a:rPr>
              <a:t>81</a:t>
            </a:r>
          </a:p>
          <a:p>
            <a:pPr algn="ctr">
              <a:spcAft>
                <a:spcPts val="600"/>
              </a:spcAft>
            </a:pPr>
            <a:r>
              <a:rPr sz="1300" b="0" i="0">
                <a:solidFill>
                  <a:srgbClr val="FFFFFF"/>
                </a:solidFill>
                <a:latin typeface="Calibri"/>
              </a:rPr>
              <a:t>provinces covered</a:t>
            </a:r>
          </a:p>
        </p:txBody>
      </p:sp>
      <p:sp>
        <p:nvSpPr>
          <p:cNvPr id="7" name="Rounded Rectangle 6"/>
          <p:cNvSpPr/>
          <p:nvPr/>
        </p:nvSpPr>
        <p:spPr>
          <a:xfrm>
            <a:off x="3419856" y="1463040"/>
            <a:ext cx="2615184" cy="173736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3200" b="1" i="0">
                <a:solidFill>
                  <a:srgbClr val="E9C46A"/>
                </a:solidFill>
                <a:latin typeface="Calibri"/>
              </a:rPr>
              <a:t>9</a:t>
            </a:r>
          </a:p>
          <a:p>
            <a:pPr algn="ctr">
              <a:spcAft>
                <a:spcPts val="600"/>
              </a:spcAft>
            </a:pPr>
            <a:r>
              <a:rPr sz="1300" b="0" i="0">
                <a:solidFill>
                  <a:srgbClr val="FFFFFF"/>
                </a:solidFill>
                <a:latin typeface="Calibri"/>
              </a:rPr>
              <a:t>independent sources</a:t>
            </a:r>
          </a:p>
        </p:txBody>
      </p:sp>
      <p:sp>
        <p:nvSpPr>
          <p:cNvPr id="8" name="Rounded Rectangle 7"/>
          <p:cNvSpPr/>
          <p:nvPr/>
        </p:nvSpPr>
        <p:spPr>
          <a:xfrm>
            <a:off x="6199632" y="1463040"/>
            <a:ext cx="2615184" cy="173736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3200" b="1" i="0">
                <a:solidFill>
                  <a:srgbClr val="E9C46A"/>
                </a:solidFill>
                <a:latin typeface="Calibri"/>
              </a:rPr>
              <a:t>2016–2026</a:t>
            </a:r>
          </a:p>
          <a:p>
            <a:pPr algn="ctr">
              <a:spcAft>
                <a:spcPts val="600"/>
              </a:spcAft>
            </a:pPr>
            <a:r>
              <a:rPr sz="1300" b="0" i="0">
                <a:solidFill>
                  <a:srgbClr val="FFFFFF"/>
                </a:solidFill>
                <a:latin typeface="Calibri"/>
              </a:rPr>
              <a:t>time span</a:t>
            </a:r>
          </a:p>
        </p:txBody>
      </p:sp>
      <p:sp>
        <p:nvSpPr>
          <p:cNvPr id="9" name="Rounded Rectangle 8"/>
          <p:cNvSpPr/>
          <p:nvPr/>
        </p:nvSpPr>
        <p:spPr>
          <a:xfrm>
            <a:off x="8979408" y="1463040"/>
            <a:ext cx="2615184" cy="173736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3200" b="1" i="0">
                <a:solidFill>
                  <a:srgbClr val="E9C46A"/>
                </a:solidFill>
                <a:latin typeface="Calibri"/>
              </a:rPr>
              <a:t>~283 M</a:t>
            </a:r>
          </a:p>
          <a:p>
            <a:pPr algn="ctr">
              <a:spcAft>
                <a:spcPts val="600"/>
              </a:spcAft>
            </a:pPr>
            <a:r>
              <a:rPr sz="1300" b="0" i="0">
                <a:solidFill>
                  <a:srgbClr val="FFFFFF"/>
                </a:solidFill>
                <a:latin typeface="Calibri"/>
              </a:rPr>
              <a:t>rows at full backfill</a:t>
            </a:r>
          </a:p>
        </p:txBody>
      </p:sp>
      <p:sp>
        <p:nvSpPr>
          <p:cNvPr id="10" name="TextBox 9"/>
          <p:cNvSpPr txBox="1"/>
          <p:nvPr/>
        </p:nvSpPr>
        <p:spPr>
          <a:xfrm>
            <a:off x="640080" y="3611880"/>
            <a:ext cx="10972800" cy="2468880"/>
          </a:xfrm>
          <a:prstGeom prst="rect">
            <a:avLst/>
          </a:prstGeom>
          <a:noFill/>
        </p:spPr>
        <p:txBody>
          <a:bodyPr wrap="square">
            <a:spAutoFit/>
          </a:bodyPr>
          <a:lstStyle/>
          <a:p>
            <a:pPr algn="l">
              <a:spcAft>
                <a:spcPts val="1400"/>
              </a:spcAft>
            </a:pPr>
            <a:r>
              <a:rPr sz="1800" b="1">
                <a:solidFill>
                  <a:srgbClr val="2A9D8F"/>
                </a:solidFill>
              </a:rPr>
              <a:t>▸  </a:t>
            </a:r>
            <a:r>
              <a:rPr sz="1800" b="0" i="0">
                <a:solidFill>
                  <a:srgbClr val="222A35"/>
                </a:solidFill>
                <a:latin typeface="Calibri"/>
              </a:rPr>
              <a:t>Today the working set is tens of GB — but the design target is the 500 GB+ regime where single-machine processing breaks down.</a:t>
            </a:r>
          </a:p>
          <a:p>
            <a:pPr algn="l">
              <a:spcAft>
                <a:spcPts val="1400"/>
              </a:spcAft>
            </a:pPr>
            <a:r>
              <a:rPr sz="1800" b="1">
                <a:solidFill>
                  <a:srgbClr val="2A9D8F"/>
                </a:solidFill>
              </a:rPr>
              <a:t>▸  </a:t>
            </a:r>
            <a:r>
              <a:rPr sz="1800" b="0" i="0">
                <a:solidFill>
                  <a:srgbClr val="222A35"/>
                </a:solidFill>
                <a:latin typeface="Calibri"/>
              </a:rPr>
              <a:t>The full 2016–2026 market backfill alone is ~283 M rows / ~52 GB of Parquet; with all sources it scales straight into true Big Data.</a:t>
            </a:r>
          </a:p>
          <a:p>
            <a:pPr algn="l">
              <a:spcAft>
                <a:spcPts val="1400"/>
              </a:spcAft>
            </a:pPr>
            <a:r>
              <a:rPr sz="1800" b="1">
                <a:solidFill>
                  <a:srgbClr val="2A9D8F"/>
                </a:solidFill>
              </a:rPr>
              <a:t>▸  </a:t>
            </a:r>
            <a:r>
              <a:rPr sz="1800" b="0" i="0">
                <a:solidFill>
                  <a:srgbClr val="222A35"/>
                </a:solidFill>
                <a:latin typeface="Calibri"/>
              </a:rPr>
              <a:t>Same code path runs a 1-year demo subset or the full backfill — only the --start-date flag changes. Volume is a parameter, not a rewrite.</a:t>
            </a:r>
          </a:p>
        </p:txBody>
      </p:sp>
      <p:sp>
        <p:nvSpPr>
          <p:cNvPr id="11" name="TextBox 10"/>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2" name="TextBox 11"/>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MEDALLION ON AWS</a:t>
            </a:r>
          </a:p>
          <a:p>
            <a:pPr algn="l">
              <a:spcAft>
                <a:spcPts val="600"/>
              </a:spcAft>
            </a:pPr>
            <a:r>
              <a:rPr sz="2900" b="1" i="0">
                <a:solidFill>
                  <a:srgbClr val="FFFFFF"/>
                </a:solidFill>
                <a:latin typeface="Calibri"/>
              </a:rPr>
              <a:t>Architecture</a:t>
            </a:r>
          </a:p>
        </p:txBody>
      </p:sp>
      <p:sp>
        <p:nvSpPr>
          <p:cNvPr id="6" name="Rounded Rectangle 5"/>
          <p:cNvSpPr/>
          <p:nvPr/>
        </p:nvSpPr>
        <p:spPr>
          <a:xfrm>
            <a:off x="548640" y="1600200"/>
            <a:ext cx="1975104" cy="155448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r>
              <a:rPr sz="1800" b="1" i="0">
                <a:solidFill>
                  <a:srgbClr val="FFFFFF"/>
                </a:solidFill>
                <a:latin typeface="Calibri"/>
              </a:rPr>
              <a:t>INGEST</a:t>
            </a:r>
          </a:p>
          <a:p>
            <a:pPr algn="ctr">
              <a:spcAft>
                <a:spcPts val="600"/>
              </a:spcAft>
            </a:pPr>
            <a:r>
              <a:rPr sz="1200" b="0" i="0">
                <a:solidFill>
                  <a:srgbClr val="FFFFFF"/>
                </a:solidFill>
                <a:latin typeface="Calibri"/>
              </a:rPr>
              <a:t>NiFi + Kafka
continuous batches</a:t>
            </a:r>
          </a:p>
        </p:txBody>
      </p:sp>
      <p:sp>
        <p:nvSpPr>
          <p:cNvPr id="7" name="Chevron 6"/>
          <p:cNvSpPr/>
          <p:nvPr/>
        </p:nvSpPr>
        <p:spPr>
          <a:xfrm>
            <a:off x="2468880" y="2212848"/>
            <a:ext cx="310896" cy="292608"/>
          </a:xfrm>
          <a:prstGeom prst="chevron">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834640" y="1600200"/>
            <a:ext cx="1975104" cy="155448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r>
              <a:rPr sz="1800" b="1" i="0">
                <a:solidFill>
                  <a:srgbClr val="FFFFFF"/>
                </a:solidFill>
                <a:latin typeface="Calibri"/>
              </a:rPr>
              <a:t>BRONZE</a:t>
            </a:r>
          </a:p>
          <a:p>
            <a:pPr algn="ctr">
              <a:spcAft>
                <a:spcPts val="600"/>
              </a:spcAft>
            </a:pPr>
            <a:r>
              <a:rPr sz="1200" b="0" i="0">
                <a:solidFill>
                  <a:srgbClr val="FFFFFF"/>
                </a:solidFill>
                <a:latin typeface="Calibri"/>
              </a:rPr>
              <a:t>Raw Parquet
on S3</a:t>
            </a:r>
          </a:p>
        </p:txBody>
      </p:sp>
      <p:sp>
        <p:nvSpPr>
          <p:cNvPr id="9" name="Chevron 8"/>
          <p:cNvSpPr/>
          <p:nvPr/>
        </p:nvSpPr>
        <p:spPr>
          <a:xfrm>
            <a:off x="4754880" y="2212848"/>
            <a:ext cx="310896" cy="292608"/>
          </a:xfrm>
          <a:prstGeom prst="chevron">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120640" y="1600200"/>
            <a:ext cx="1975104" cy="155448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r>
              <a:rPr sz="1800" b="1" i="0">
                <a:solidFill>
                  <a:srgbClr val="FFFFFF"/>
                </a:solidFill>
                <a:latin typeface="Calibri"/>
              </a:rPr>
              <a:t>SILVER</a:t>
            </a:r>
          </a:p>
          <a:p>
            <a:pPr algn="ctr">
              <a:spcAft>
                <a:spcPts val="600"/>
              </a:spcAft>
            </a:pPr>
            <a:r>
              <a:rPr sz="1200" b="0" i="0">
                <a:solidFill>
                  <a:srgbClr val="FFFFFF"/>
                </a:solidFill>
                <a:latin typeface="Calibri"/>
              </a:rPr>
              <a:t>Spark — cleaned,
entity-resolved</a:t>
            </a:r>
          </a:p>
        </p:txBody>
      </p:sp>
      <p:sp>
        <p:nvSpPr>
          <p:cNvPr id="11" name="Chevron 10"/>
          <p:cNvSpPr/>
          <p:nvPr/>
        </p:nvSpPr>
        <p:spPr>
          <a:xfrm>
            <a:off x="7040880" y="2212848"/>
            <a:ext cx="310896" cy="292608"/>
          </a:xfrm>
          <a:prstGeom prst="chevron">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06640" y="1600200"/>
            <a:ext cx="1975104" cy="15544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r>
              <a:rPr sz="1800" b="1" i="0">
                <a:solidFill>
                  <a:srgbClr val="FFFFFF"/>
                </a:solidFill>
                <a:latin typeface="Calibri"/>
              </a:rPr>
              <a:t>GOLD</a:t>
            </a:r>
          </a:p>
          <a:p>
            <a:pPr algn="ctr">
              <a:spcAft>
                <a:spcPts val="600"/>
              </a:spcAft>
            </a:pPr>
            <a:r>
              <a:rPr sz="1200" b="0" i="0">
                <a:solidFill>
                  <a:srgbClr val="FFFFFF"/>
                </a:solidFill>
                <a:latin typeface="Calibri"/>
              </a:rPr>
              <a:t>Spark — analysis
tables (8)</a:t>
            </a:r>
          </a:p>
        </p:txBody>
      </p:sp>
      <p:sp>
        <p:nvSpPr>
          <p:cNvPr id="13" name="Chevron 12"/>
          <p:cNvSpPr/>
          <p:nvPr/>
        </p:nvSpPr>
        <p:spPr>
          <a:xfrm>
            <a:off x="9326880" y="2212848"/>
            <a:ext cx="310896" cy="292608"/>
          </a:xfrm>
          <a:prstGeom prst="chevron">
            <a:avLst/>
          </a:prstGeom>
          <a:solidFill>
            <a:srgbClr val="222A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9692640" y="1600200"/>
            <a:ext cx="1975104" cy="1554480"/>
          </a:xfrm>
          <a:prstGeom prst="roundRect">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pPr>
            <a:r>
              <a:rPr sz="1800" b="1" i="0">
                <a:solidFill>
                  <a:srgbClr val="FFFFFF"/>
                </a:solidFill>
                <a:latin typeface="Calibri"/>
              </a:rPr>
              <a:t>SERVE</a:t>
            </a:r>
          </a:p>
          <a:p>
            <a:pPr algn="ctr">
              <a:spcAft>
                <a:spcPts val="600"/>
              </a:spcAft>
            </a:pPr>
            <a:r>
              <a:rPr sz="1200" b="0" i="0">
                <a:solidFill>
                  <a:srgbClr val="FFFFFF"/>
                </a:solidFill>
                <a:latin typeface="Calibri"/>
              </a:rPr>
              <a:t>Elasticsearch
+ Kibana</a:t>
            </a:r>
          </a:p>
        </p:txBody>
      </p:sp>
      <p:sp>
        <p:nvSpPr>
          <p:cNvPr id="15" name="TextBox 14"/>
          <p:cNvSpPr txBox="1"/>
          <p:nvPr/>
        </p:nvSpPr>
        <p:spPr>
          <a:xfrm>
            <a:off x="640080" y="3429000"/>
            <a:ext cx="11064240" cy="2743200"/>
          </a:xfrm>
          <a:prstGeom prst="rect">
            <a:avLst/>
          </a:prstGeom>
          <a:noFill/>
        </p:spPr>
        <p:txBody>
          <a:bodyPr wrap="square">
            <a:spAutoFit/>
          </a:bodyPr>
          <a:lstStyle/>
          <a:p>
            <a:pPr algn="l">
              <a:spcAft>
                <a:spcPts val="1100"/>
              </a:spcAft>
            </a:pPr>
            <a:r>
              <a:rPr sz="1500" b="1">
                <a:solidFill>
                  <a:srgbClr val="2A9D8F"/>
                </a:solidFill>
              </a:rPr>
              <a:t>▸  </a:t>
            </a:r>
            <a:r>
              <a:rPr sz="1500" b="0" i="0">
                <a:solidFill>
                  <a:srgbClr val="222A35"/>
                </a:solidFill>
                <a:latin typeface="Calibri"/>
              </a:rPr>
              <a:t>Orchestration — Apache NiFi drives the ingestion pipeline as continuous batches (the professor's request — NiFi over Airflow); Kafka is the durable event log.</a:t>
            </a:r>
          </a:p>
          <a:p>
            <a:pPr algn="l">
              <a:spcAft>
                <a:spcPts val="1100"/>
              </a:spcAft>
            </a:pPr>
            <a:r>
              <a:rPr sz="1500" b="1">
                <a:solidFill>
                  <a:srgbClr val="2A9D8F"/>
                </a:solidFill>
              </a:rPr>
              <a:t>▸  </a:t>
            </a:r>
            <a:r>
              <a:rPr sz="1500" b="0" i="0">
                <a:solidFill>
                  <a:srgbClr val="222A35"/>
                </a:solidFill>
                <a:latin typeface="Calibri"/>
              </a:rPr>
              <a:t>Storage — Bronze / Silver / Gold all land on Amazon S3 as Parquet — Hive-style year/month partitioning for cheap pruning.</a:t>
            </a:r>
          </a:p>
          <a:p>
            <a:pPr algn="l">
              <a:spcAft>
                <a:spcPts val="1100"/>
              </a:spcAft>
            </a:pPr>
            <a:r>
              <a:rPr sz="1500" b="1">
                <a:solidFill>
                  <a:srgbClr val="2A9D8F"/>
                </a:solidFill>
              </a:rPr>
              <a:t>▸  </a:t>
            </a:r>
            <a:r>
              <a:rPr sz="1500" b="0" i="0">
                <a:solidFill>
                  <a:srgbClr val="222A35"/>
                </a:solidFill>
                <a:latin typeface="Calibri"/>
              </a:rPr>
              <a:t>Compute — PySpark 3.5.1 — local mode on EC2 for development, AWS EMR transient clusters for the heavy runs.</a:t>
            </a:r>
          </a:p>
          <a:p>
            <a:pPr algn="l">
              <a:spcAft>
                <a:spcPts val="1100"/>
              </a:spcAft>
            </a:pPr>
            <a:r>
              <a:rPr sz="1500" b="1">
                <a:solidFill>
                  <a:srgbClr val="2A9D8F"/>
                </a:solidFill>
              </a:rPr>
              <a:t>▸  </a:t>
            </a:r>
            <a:r>
              <a:rPr sz="1500" b="0" i="0">
                <a:solidFill>
                  <a:srgbClr val="222A35"/>
                </a:solidFill>
                <a:latin typeface="Calibri"/>
              </a:rPr>
              <a:t>Serving — Gold tables indexed into Elasticsearch; Kibana dashboards for interactive exploration (ELK, not Athena).</a:t>
            </a:r>
          </a:p>
        </p:txBody>
      </p:sp>
      <p:sp>
        <p:nvSpPr>
          <p:cNvPr id="16" name="TextBox 15"/>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7" name="TextBox 16"/>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WHY PARQUET</a:t>
            </a:r>
          </a:p>
          <a:p>
            <a:pPr algn="l">
              <a:spcAft>
                <a:spcPts val="600"/>
              </a:spcAft>
            </a:pPr>
            <a:r>
              <a:rPr sz="2900" b="1" i="0">
                <a:solidFill>
                  <a:srgbClr val="FFFFFF"/>
                </a:solidFill>
                <a:latin typeface="Calibri"/>
              </a:rPr>
              <a:t>Bronze Layer &amp; Parquet Compression</a:t>
            </a:r>
          </a:p>
        </p:txBody>
      </p:sp>
      <p:pic>
        <p:nvPicPr>
          <p:cNvPr id="6" name="Picture 5" descr="compression.png"/>
          <p:cNvPicPr>
            <a:picLocks noChangeAspect="1"/>
          </p:cNvPicPr>
          <p:nvPr/>
        </p:nvPicPr>
        <p:blipFill>
          <a:blip r:embed="rId2"/>
          <a:stretch>
            <a:fillRect/>
          </a:stretch>
        </p:blipFill>
        <p:spPr>
          <a:xfrm>
            <a:off x="457200" y="1371600"/>
            <a:ext cx="7315200" cy="2930647"/>
          </a:xfrm>
          <a:prstGeom prst="rect">
            <a:avLst/>
          </a:prstGeom>
        </p:spPr>
      </p:pic>
      <p:sp>
        <p:nvSpPr>
          <p:cNvPr id="7" name="Rounded Rectangle 6"/>
          <p:cNvSpPr/>
          <p:nvPr/>
        </p:nvSpPr>
        <p:spPr>
          <a:xfrm>
            <a:off x="7955279" y="1371600"/>
            <a:ext cx="3749039" cy="37033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183879" y="1554480"/>
            <a:ext cx="3337560" cy="3383280"/>
          </a:xfrm>
          <a:prstGeom prst="rect">
            <a:avLst/>
          </a:prstGeom>
          <a:noFill/>
        </p:spPr>
        <p:txBody>
          <a:bodyPr wrap="square">
            <a:spAutoFit/>
          </a:bodyPr>
          <a:lstStyle/>
          <a:p>
            <a:pPr algn="l">
              <a:spcAft>
                <a:spcPts val="900"/>
              </a:spcAft>
            </a:pPr>
            <a:r>
              <a:rPr sz="1400" b="1" i="0">
                <a:solidFill>
                  <a:srgbClr val="2A9D8F"/>
                </a:solidFill>
                <a:latin typeface="Calibri"/>
              </a:rPr>
              <a:t>WHY IT MATTERS</a:t>
            </a:r>
          </a:p>
          <a:p>
            <a:pPr algn="l">
              <a:spcAft>
                <a:spcPts val="800"/>
              </a:spcAft>
            </a:pPr>
            <a:r>
              <a:rPr sz="1400" b="1">
                <a:solidFill>
                  <a:srgbClr val="2A9D8F"/>
                </a:solidFill>
              </a:rPr>
              <a:t>▸  </a:t>
            </a:r>
            <a:r>
              <a:rPr sz="1400" b="0" i="0">
                <a:solidFill>
                  <a:srgbClr val="222A35"/>
                </a:solidFill>
                <a:latin typeface="Calibri"/>
              </a:rPr>
              <a:t>Columnar storage — read only the columns a query needs.</a:t>
            </a:r>
          </a:p>
          <a:p>
            <a:pPr algn="l">
              <a:spcAft>
                <a:spcPts val="800"/>
              </a:spcAft>
            </a:pPr>
            <a:r>
              <a:rPr sz="1400" b="1">
                <a:solidFill>
                  <a:srgbClr val="2A9D8F"/>
                </a:solidFill>
              </a:rPr>
              <a:t>▸  </a:t>
            </a:r>
            <a:r>
              <a:rPr sz="1400" b="0" i="0">
                <a:solidFill>
                  <a:srgbClr val="222A35"/>
                </a:solidFill>
                <a:latin typeface="Calibri"/>
              </a:rPr>
              <a:t>Type-aware compression — dictionary + run-length encoding.</a:t>
            </a:r>
          </a:p>
          <a:p>
            <a:pPr algn="l">
              <a:spcAft>
                <a:spcPts val="800"/>
              </a:spcAft>
            </a:pPr>
            <a:r>
              <a:rPr sz="1400" b="1">
                <a:solidFill>
                  <a:srgbClr val="2A9D8F"/>
                </a:solidFill>
              </a:rPr>
              <a:t>▸  </a:t>
            </a:r>
            <a:r>
              <a:rPr sz="1400" b="0" i="0">
                <a:solidFill>
                  <a:srgbClr val="222A35"/>
                </a:solidFill>
                <a:latin typeface="Calibri"/>
              </a:rPr>
              <a:t>Partition pruning — WHERE year=2025 skips whole folders.</a:t>
            </a:r>
          </a:p>
          <a:p>
            <a:pPr algn="l">
              <a:spcAft>
                <a:spcPts val="800"/>
              </a:spcAft>
            </a:pPr>
            <a:r>
              <a:rPr sz="1400" b="1">
                <a:solidFill>
                  <a:srgbClr val="2A9D8F"/>
                </a:solidFill>
              </a:rPr>
              <a:t>▸  </a:t>
            </a:r>
            <a:r>
              <a:rPr sz="1400" b="0" i="0">
                <a:solidFill>
                  <a:srgbClr val="222A35"/>
                </a:solidFill>
                <a:latin typeface="Calibri"/>
              </a:rPr>
              <a:t>hal_all: 1028 MB CSV → 62 MB Parquet ≈ 17× smaller.</a:t>
            </a:r>
          </a:p>
          <a:p>
            <a:pPr algn="l">
              <a:spcAft>
                <a:spcPts val="800"/>
              </a:spcAft>
            </a:pPr>
            <a:r>
              <a:rPr sz="1400" b="1">
                <a:solidFill>
                  <a:srgbClr val="2A9D8F"/>
                </a:solidFill>
              </a:rPr>
              <a:t>▸  </a:t>
            </a:r>
            <a:r>
              <a:rPr sz="1400" b="0" i="0">
                <a:solidFill>
                  <a:srgbClr val="222A35"/>
                </a:solidFill>
                <a:latin typeface="Calibri"/>
              </a:rPr>
              <a:t>Smaller files → shorter EMR runtime → lower AWS cost.</a:t>
            </a:r>
          </a:p>
        </p:txBody>
      </p:sp>
      <p:sp>
        <p:nvSpPr>
          <p:cNvPr id="9" name="Rounded Rectangle 8"/>
          <p:cNvSpPr/>
          <p:nvPr/>
        </p:nvSpPr>
        <p:spPr>
          <a:xfrm>
            <a:off x="457200" y="5303520"/>
            <a:ext cx="11247120" cy="8686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Calibri"/>
              </a:rPr>
              <a:t>Bronze keeps data raw — but as Parquet. Conversion shrinks storage up to ~17× and cuts every downstream compute bill.</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THE HARDEST PROBLEM</a:t>
            </a:r>
          </a:p>
          <a:p>
            <a:pPr algn="l">
              <a:spcAft>
                <a:spcPts val="600"/>
              </a:spcAft>
            </a:pPr>
            <a:r>
              <a:rPr sz="2900" b="1" i="0">
                <a:solidFill>
                  <a:srgbClr val="FFFFFF"/>
                </a:solidFill>
                <a:latin typeface="Calibri"/>
              </a:rPr>
              <a:t>Silver Layer &amp; Entity Resolution</a:t>
            </a:r>
          </a:p>
        </p:txBody>
      </p:sp>
      <p:sp>
        <p:nvSpPr>
          <p:cNvPr id="6" name="TextBox 5"/>
          <p:cNvSpPr txBox="1"/>
          <p:nvPr/>
        </p:nvSpPr>
        <p:spPr>
          <a:xfrm>
            <a:off x="640080" y="1234440"/>
            <a:ext cx="11155680" cy="548640"/>
          </a:xfrm>
          <a:prstGeom prst="rect">
            <a:avLst/>
          </a:prstGeom>
          <a:noFill/>
        </p:spPr>
        <p:txBody>
          <a:bodyPr wrap="square">
            <a:spAutoFit/>
          </a:bodyPr>
          <a:lstStyle/>
          <a:p>
            <a:pPr algn="l">
              <a:spcAft>
                <a:spcPts val="600"/>
              </a:spcAft>
            </a:pPr>
            <a:r>
              <a:rPr sz="1600" b="1" i="0">
                <a:solidFill>
                  <a:srgbClr val="222A35"/>
                </a:solidFill>
                <a:latin typeface="Calibri"/>
              </a:rPr>
              <a:t>Hal and retail systems share no product IDs. "Domates Sofralık Sera" must be matched to "salkim-domates-1-kg".</a:t>
            </a:r>
          </a:p>
        </p:txBody>
      </p:sp>
      <p:sp>
        <p:nvSpPr>
          <p:cNvPr id="7" name="Rounded Rectangle 6"/>
          <p:cNvSpPr/>
          <p:nvPr/>
        </p:nvSpPr>
        <p:spPr>
          <a:xfrm>
            <a:off x="640080" y="1965960"/>
            <a:ext cx="2377440" cy="914400"/>
          </a:xfrm>
          <a:prstGeom prst="roundRect">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Hal name +
Retail title</a:t>
            </a:r>
          </a:p>
        </p:txBody>
      </p:sp>
      <p:sp>
        <p:nvSpPr>
          <p:cNvPr id="8" name="Chevron 7"/>
          <p:cNvSpPr/>
          <p:nvPr/>
        </p:nvSpPr>
        <p:spPr>
          <a:xfrm>
            <a:off x="2962656" y="2286000"/>
            <a:ext cx="256032"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127248" y="1965960"/>
            <a:ext cx="2377440" cy="91440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Pre-filter
candidate pairs</a:t>
            </a:r>
          </a:p>
        </p:txBody>
      </p:sp>
      <p:sp>
        <p:nvSpPr>
          <p:cNvPr id="10" name="Chevron 9"/>
          <p:cNvSpPr/>
          <p:nvPr/>
        </p:nvSpPr>
        <p:spPr>
          <a:xfrm>
            <a:off x="5449824" y="2286000"/>
            <a:ext cx="256032"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614416" y="1965960"/>
            <a:ext cx="2377440" cy="9144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LLM judge
(Claude Haiku)</a:t>
            </a:r>
          </a:p>
        </p:txBody>
      </p:sp>
      <p:sp>
        <p:nvSpPr>
          <p:cNvPr id="12" name="Chevron 11"/>
          <p:cNvSpPr/>
          <p:nvPr/>
        </p:nvSpPr>
        <p:spPr>
          <a:xfrm>
            <a:off x="7936992" y="2286000"/>
            <a:ext cx="256032"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101584" y="1965960"/>
            <a:ext cx="2377440" cy="9144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Human review
→ mapping CSV</a:t>
            </a:r>
          </a:p>
        </p:txBody>
      </p:sp>
      <p:sp>
        <p:nvSpPr>
          <p:cNvPr id="14" name="TextBox 13"/>
          <p:cNvSpPr txBox="1"/>
          <p:nvPr/>
        </p:nvSpPr>
        <p:spPr>
          <a:xfrm>
            <a:off x="640080" y="3200400"/>
            <a:ext cx="11064240" cy="2834640"/>
          </a:xfrm>
          <a:prstGeom prst="rect">
            <a:avLst/>
          </a:prstGeom>
          <a:noFill/>
        </p:spPr>
        <p:txBody>
          <a:bodyPr wrap="square">
            <a:spAutoFit/>
          </a:bodyPr>
          <a:lstStyle/>
          <a:p>
            <a:pPr algn="l">
              <a:spcAft>
                <a:spcPts val="1000"/>
              </a:spcAft>
            </a:pPr>
            <a:r>
              <a:rPr sz="1500" b="1" i="0">
                <a:solidFill>
                  <a:srgbClr val="1B2A4A"/>
                </a:solidFill>
                <a:latin typeface="Calibri"/>
              </a:rPr>
              <a:t>Entity resolution</a:t>
            </a:r>
          </a:p>
          <a:p>
            <a:pPr algn="l">
              <a:spcAft>
                <a:spcPts val="1000"/>
              </a:spcAft>
            </a:pPr>
            <a:r>
              <a:rPr sz="1500" b="1">
                <a:solidFill>
                  <a:srgbClr val="2A9D8F"/>
                </a:solidFill>
              </a:rPr>
              <a:t>▸  </a:t>
            </a:r>
            <a:r>
              <a:rPr sz="1500" b="0" i="0">
                <a:solidFill>
                  <a:srgbClr val="222A35"/>
                </a:solidFill>
                <a:latin typeface="Calibri"/>
              </a:rPr>
              <a:t>LLM-based matching (Claude Haiku) — modern language model instead of classic TF-IDF, per the professor's guidance.</a:t>
            </a:r>
          </a:p>
          <a:p>
            <a:pPr algn="l">
              <a:spcAft>
                <a:spcPts val="1000"/>
              </a:spcAft>
            </a:pPr>
            <a:r>
              <a:rPr sz="1500" b="1">
                <a:solidFill>
                  <a:srgbClr val="2A9D8F"/>
                </a:solidFill>
              </a:rPr>
              <a:t>▸  </a:t>
            </a:r>
            <a:r>
              <a:rPr sz="1500" b="0" i="0">
                <a:solidFill>
                  <a:srgbClr val="222A35"/>
                </a:solidFill>
                <a:latin typeface="Calibri"/>
              </a:rPr>
              <a:t>Batched &amp; prompt-cached → fast, cheap, explainable; human review keeps the final mapping CSV trustworthy.</a:t>
            </a:r>
          </a:p>
          <a:p>
            <a:pPr algn="l">
              <a:spcAft>
                <a:spcPts val="1000"/>
              </a:spcAft>
            </a:pPr>
            <a:r>
              <a:rPr sz="1500" b="1" i="0">
                <a:solidFill>
                  <a:srgbClr val="1B2A4A"/>
                </a:solidFill>
                <a:latin typeface="Calibri"/>
              </a:rPr>
              <a:t>Unit &amp; alignment</a:t>
            </a:r>
          </a:p>
          <a:p>
            <a:pPr algn="l">
              <a:spcAft>
                <a:spcPts val="1000"/>
              </a:spcAft>
            </a:pPr>
            <a:r>
              <a:rPr sz="1500" b="1">
                <a:solidFill>
                  <a:srgbClr val="2A9D8F"/>
                </a:solidFill>
              </a:rPr>
              <a:t>▸  </a:t>
            </a:r>
            <a:r>
              <a:rPr sz="1500" b="0" i="0">
                <a:solidFill>
                  <a:srgbClr val="222A35"/>
                </a:solidFill>
                <a:latin typeface="Calibri"/>
              </a:rPr>
              <a:t>Unit standardisation — Kasa / Bağ / Adet / Gram all normalised to a 1 kg basis via conversion UDFs.</a:t>
            </a:r>
          </a:p>
          <a:p>
            <a:pPr algn="l">
              <a:spcAft>
                <a:spcPts val="1000"/>
              </a:spcAft>
            </a:pPr>
            <a:r>
              <a:rPr sz="1500" b="1">
                <a:solidFill>
                  <a:srgbClr val="2A9D8F"/>
                </a:solidFill>
              </a:rPr>
              <a:t>▸  </a:t>
            </a:r>
            <a:r>
              <a:rPr sz="1500" b="0" i="0">
                <a:solidFill>
                  <a:srgbClr val="222A35"/>
                </a:solidFill>
                <a:latin typeface="Calibri"/>
              </a:rPr>
              <a:t>Temporal &amp; spatial alignment — as-of joins across 15-min → monthly feeds; retail joined to its nearest hal.</a:t>
            </a:r>
          </a:p>
        </p:txBody>
      </p:sp>
      <p:sp>
        <p:nvSpPr>
          <p:cNvPr id="15" name="TextBox 14"/>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6" name="TextBox 15"/>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SPIN UP, PROCESS, SHUT DOWN</a:t>
            </a:r>
          </a:p>
          <a:p>
            <a:pPr algn="l">
              <a:spcAft>
                <a:spcPts val="600"/>
              </a:spcAft>
            </a:pPr>
            <a:r>
              <a:rPr sz="2900" b="1" i="0">
                <a:solidFill>
                  <a:srgbClr val="FFFFFF"/>
                </a:solidFill>
                <a:latin typeface="Calibri"/>
              </a:rPr>
              <a:t>EMR Transient Cluster</a:t>
            </a:r>
          </a:p>
        </p:txBody>
      </p:sp>
      <p:sp>
        <p:nvSpPr>
          <p:cNvPr id="6" name="Rounded Rectangle 5"/>
          <p:cNvSpPr/>
          <p:nvPr/>
        </p:nvSpPr>
        <p:spPr>
          <a:xfrm>
            <a:off x="640080" y="1325880"/>
            <a:ext cx="10908792" cy="86868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700" b="1" i="0">
                <a:solidFill>
                  <a:srgbClr val="FFFFFF"/>
                </a:solidFill>
                <a:latin typeface="Calibri"/>
              </a:rPr>
              <a:t>"I open the cluster, process the data, and shut it down" — compute only exists while a job runs. Zero idle cost.</a:t>
            </a:r>
          </a:p>
        </p:txBody>
      </p:sp>
      <p:sp>
        <p:nvSpPr>
          <p:cNvPr id="7" name="Rounded Rectangle 6"/>
          <p:cNvSpPr/>
          <p:nvPr/>
        </p:nvSpPr>
        <p:spPr>
          <a:xfrm>
            <a:off x="640080" y="2514600"/>
            <a:ext cx="2468880" cy="960120"/>
          </a:xfrm>
          <a:prstGeom prst="roundRect">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preflight.py
static checks</a:t>
            </a:r>
          </a:p>
        </p:txBody>
      </p:sp>
      <p:sp>
        <p:nvSpPr>
          <p:cNvPr id="8" name="Chevron 7"/>
          <p:cNvSpPr/>
          <p:nvPr/>
        </p:nvSpPr>
        <p:spPr>
          <a:xfrm>
            <a:off x="3035807" y="2852928"/>
            <a:ext cx="274320"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218687" y="2514600"/>
            <a:ext cx="2468880" cy="96012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launch_demo.sh
create cluster</a:t>
            </a:r>
          </a:p>
        </p:txBody>
      </p:sp>
      <p:sp>
        <p:nvSpPr>
          <p:cNvPr id="10" name="Chevron 9"/>
          <p:cNvSpPr/>
          <p:nvPr/>
        </p:nvSpPr>
        <p:spPr>
          <a:xfrm>
            <a:off x="5614416" y="2852928"/>
            <a:ext cx="274320"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797296" y="2514600"/>
            <a:ext cx="2468880" cy="96012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11 Spark steps
Bronze→Silver→Gold</a:t>
            </a:r>
          </a:p>
        </p:txBody>
      </p:sp>
      <p:sp>
        <p:nvSpPr>
          <p:cNvPr id="12" name="Chevron 11"/>
          <p:cNvSpPr/>
          <p:nvPr/>
        </p:nvSpPr>
        <p:spPr>
          <a:xfrm>
            <a:off x="8193024" y="2852928"/>
            <a:ext cx="274320"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375904" y="2514600"/>
            <a:ext cx="2468880" cy="96012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250" b="1" i="0">
                <a:solidFill>
                  <a:srgbClr val="FFFFFF"/>
                </a:solidFill>
                <a:latin typeface="Calibri"/>
              </a:rPr>
              <a:t>--auto-terminate
cluster dies</a:t>
            </a:r>
          </a:p>
        </p:txBody>
      </p:sp>
      <p:sp>
        <p:nvSpPr>
          <p:cNvPr id="14" name="TextBox 13"/>
          <p:cNvSpPr txBox="1"/>
          <p:nvPr/>
        </p:nvSpPr>
        <p:spPr>
          <a:xfrm>
            <a:off x="640080" y="3794760"/>
            <a:ext cx="11064240" cy="2286000"/>
          </a:xfrm>
          <a:prstGeom prst="rect">
            <a:avLst/>
          </a:prstGeom>
          <a:noFill/>
        </p:spPr>
        <p:txBody>
          <a:bodyPr wrap="square">
            <a:spAutoFit/>
          </a:bodyPr>
          <a:lstStyle/>
          <a:p>
            <a:pPr algn="l">
              <a:spcAft>
                <a:spcPts val="1300"/>
              </a:spcAft>
            </a:pPr>
            <a:r>
              <a:rPr sz="1600" b="1">
                <a:solidFill>
                  <a:srgbClr val="2A9D8F"/>
                </a:solidFill>
              </a:rPr>
              <a:t>▸  </a:t>
            </a:r>
            <a:r>
              <a:rPr sz="1600" b="0" i="0">
                <a:solidFill>
                  <a:srgbClr val="222A35"/>
                </a:solidFill>
                <a:latin typeface="Calibri"/>
              </a:rPr>
              <a:t>preflight.py validates script syntax, deps.zip and S3 paths BEFORE any cluster starts — fail early, pay nothing.</a:t>
            </a:r>
          </a:p>
          <a:p>
            <a:pPr algn="l">
              <a:spcAft>
                <a:spcPts val="1300"/>
              </a:spcAft>
            </a:pPr>
            <a:r>
              <a:rPr sz="1600" b="1">
                <a:solidFill>
                  <a:srgbClr val="2A9D8F"/>
                </a:solidFill>
              </a:rPr>
              <a:t>▸  </a:t>
            </a:r>
            <a:r>
              <a:rPr sz="1600" b="0" i="0">
                <a:solidFill>
                  <a:srgbClr val="222A35"/>
                </a:solidFill>
                <a:latin typeface="Calibri"/>
              </a:rPr>
              <a:t>Cluster: emr-7.2.0 · Spark 3.5.1 · 1 master + 3 core nodes · the smoke-test step terminates the cluster instantly if it fails.</a:t>
            </a:r>
          </a:p>
          <a:p>
            <a:pPr algn="l">
              <a:spcAft>
                <a:spcPts val="1300"/>
              </a:spcAft>
            </a:pPr>
            <a:r>
              <a:rPr sz="1600" b="1">
                <a:solidFill>
                  <a:srgbClr val="2A9D8F"/>
                </a:solidFill>
              </a:rPr>
              <a:t>▸  </a:t>
            </a:r>
            <a:r>
              <a:rPr sz="1600" b="0" i="0">
                <a:solidFill>
                  <a:srgbClr val="222A35"/>
                </a:solidFill>
                <a:latin typeface="Calibri"/>
              </a:rPr>
              <a:t>A full Bronze→Silver→Gold run costs roughly $1 and auto-terminates — no forgotten cluster billing overnight.</a:t>
            </a:r>
          </a:p>
        </p:txBody>
      </p:sp>
      <p:sp>
        <p:nvSpPr>
          <p:cNvPr id="15" name="TextBox 14"/>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6" name="TextBox 15"/>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THE 1-YEAR PIPELINE RUN</a:t>
            </a:r>
          </a:p>
          <a:p>
            <a:pPr algn="l">
              <a:spcAft>
                <a:spcPts val="600"/>
              </a:spcAft>
            </a:pPr>
            <a:r>
              <a:rPr sz="2900" b="1" i="0">
                <a:solidFill>
                  <a:srgbClr val="FFFFFF"/>
                </a:solidFill>
                <a:latin typeface="Calibri"/>
              </a:rPr>
              <a:t>EMR Run Performance</a:t>
            </a:r>
          </a:p>
        </p:txBody>
      </p:sp>
      <p:sp>
        <p:nvSpPr>
          <p:cNvPr id="6" name="TextBox 5"/>
          <p:cNvSpPr txBox="1"/>
          <p:nvPr/>
        </p:nvSpPr>
        <p:spPr>
          <a:xfrm>
            <a:off x="640080" y="1234440"/>
            <a:ext cx="11155680" cy="548640"/>
          </a:xfrm>
          <a:prstGeom prst="rect">
            <a:avLst/>
          </a:prstGeom>
          <a:noFill/>
        </p:spPr>
        <p:txBody>
          <a:bodyPr wrap="square">
            <a:spAutoFit/>
          </a:bodyPr>
          <a:lstStyle/>
          <a:p>
            <a:pPr algn="l">
              <a:spcAft>
                <a:spcPts val="600"/>
              </a:spcAft>
            </a:pPr>
            <a:r>
              <a:rPr sz="1600" b="1" i="0">
                <a:solidFill>
                  <a:srgbClr val="222A35"/>
                </a:solidFill>
                <a:latin typeface="Calibri"/>
              </a:rPr>
              <a:t>We ran the full Bronze→Silver→Gold pipeline on a 1-year subset (2025-05-20 → 2026-05-20) on AWS EMR.</a:t>
            </a:r>
          </a:p>
        </p:txBody>
      </p:sp>
      <p:sp>
        <p:nvSpPr>
          <p:cNvPr id="7" name="Rounded Rectangle 6"/>
          <p:cNvSpPr/>
          <p:nvPr/>
        </p:nvSpPr>
        <p:spPr>
          <a:xfrm>
            <a:off x="640080" y="1874519"/>
            <a:ext cx="2084831" cy="13716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2100" b="1" i="0">
                <a:solidFill>
                  <a:srgbClr val="E9C46A"/>
                </a:solidFill>
                <a:latin typeface="Calibri"/>
              </a:rPr>
              <a:t>emr-7.2.0</a:t>
            </a:r>
          </a:p>
          <a:p>
            <a:pPr algn="ctr">
              <a:spcAft>
                <a:spcPts val="600"/>
              </a:spcAft>
            </a:pPr>
            <a:r>
              <a:rPr sz="1150" b="0" i="0">
                <a:solidFill>
                  <a:srgbClr val="FFFFFF"/>
                </a:solidFill>
                <a:latin typeface="Calibri"/>
              </a:rPr>
              <a:t>Spark 3.5.1 · Py 3.9</a:t>
            </a:r>
          </a:p>
        </p:txBody>
      </p:sp>
      <p:sp>
        <p:nvSpPr>
          <p:cNvPr id="8" name="Rounded Rectangle 7"/>
          <p:cNvSpPr/>
          <p:nvPr/>
        </p:nvSpPr>
        <p:spPr>
          <a:xfrm>
            <a:off x="2852928" y="1874519"/>
            <a:ext cx="2084831" cy="13716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2100" b="1" i="0">
                <a:solidFill>
                  <a:srgbClr val="E9C46A"/>
                </a:solidFill>
                <a:latin typeface="Calibri"/>
              </a:rPr>
              <a:t>1 + 3</a:t>
            </a:r>
          </a:p>
          <a:p>
            <a:pPr algn="ctr">
              <a:spcAft>
                <a:spcPts val="600"/>
              </a:spcAft>
            </a:pPr>
            <a:r>
              <a:rPr sz="1150" b="0" i="0">
                <a:solidFill>
                  <a:srgbClr val="FFFFFF"/>
                </a:solidFill>
                <a:latin typeface="Calibri"/>
              </a:rPr>
              <a:t>master + core nodes</a:t>
            </a:r>
          </a:p>
        </p:txBody>
      </p:sp>
      <p:sp>
        <p:nvSpPr>
          <p:cNvPr id="9" name="Rounded Rectangle 8"/>
          <p:cNvSpPr/>
          <p:nvPr/>
        </p:nvSpPr>
        <p:spPr>
          <a:xfrm>
            <a:off x="5065776" y="1874519"/>
            <a:ext cx="2084831" cy="13716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2100" b="1" i="0">
                <a:solidFill>
                  <a:srgbClr val="E9C46A"/>
                </a:solidFill>
                <a:latin typeface="Calibri"/>
              </a:rPr>
              <a:t>11</a:t>
            </a:r>
          </a:p>
          <a:p>
            <a:pPr algn="ctr">
              <a:spcAft>
                <a:spcPts val="600"/>
              </a:spcAft>
            </a:pPr>
            <a:r>
              <a:rPr sz="1150" b="0" i="0">
                <a:solidFill>
                  <a:srgbClr val="FFFFFF"/>
                </a:solidFill>
                <a:latin typeface="Calibri"/>
              </a:rPr>
              <a:t>Spark steps</a:t>
            </a:r>
          </a:p>
        </p:txBody>
      </p:sp>
      <p:sp>
        <p:nvSpPr>
          <p:cNvPr id="10" name="Rounded Rectangle 9"/>
          <p:cNvSpPr/>
          <p:nvPr/>
        </p:nvSpPr>
        <p:spPr>
          <a:xfrm>
            <a:off x="7278624" y="1874519"/>
            <a:ext cx="2084831" cy="13716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2100" b="1" i="0">
                <a:solidFill>
                  <a:srgbClr val="E9C46A"/>
                </a:solidFill>
                <a:latin typeface="Calibri"/>
              </a:rPr>
              <a:t>~30–45 min</a:t>
            </a:r>
          </a:p>
          <a:p>
            <a:pPr algn="ctr">
              <a:spcAft>
                <a:spcPts val="600"/>
              </a:spcAft>
            </a:pPr>
            <a:r>
              <a:rPr sz="1150" b="0" i="0">
                <a:solidFill>
                  <a:srgbClr val="FFFFFF"/>
                </a:solidFill>
                <a:latin typeface="Calibri"/>
              </a:rPr>
              <a:t>end-to-end runtime</a:t>
            </a:r>
          </a:p>
        </p:txBody>
      </p:sp>
      <p:sp>
        <p:nvSpPr>
          <p:cNvPr id="11" name="Rounded Rectangle 10"/>
          <p:cNvSpPr/>
          <p:nvPr/>
        </p:nvSpPr>
        <p:spPr>
          <a:xfrm>
            <a:off x="9491472" y="1874519"/>
            <a:ext cx="2084831" cy="13716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200"/>
              </a:spcAft>
            </a:pPr>
            <a:r>
              <a:rPr sz="2100" b="1" i="0">
                <a:solidFill>
                  <a:srgbClr val="E9C46A"/>
                </a:solidFill>
                <a:latin typeface="Calibri"/>
              </a:rPr>
              <a:t>≈ $1</a:t>
            </a:r>
          </a:p>
          <a:p>
            <a:pPr algn="ctr">
              <a:spcAft>
                <a:spcPts val="600"/>
              </a:spcAft>
            </a:pPr>
            <a:r>
              <a:rPr sz="1150" b="0" i="0">
                <a:solidFill>
                  <a:srgbClr val="FFFFFF"/>
                </a:solidFill>
                <a:latin typeface="Calibri"/>
              </a:rPr>
              <a:t>total cost / run</a:t>
            </a:r>
          </a:p>
        </p:txBody>
      </p:sp>
      <p:sp>
        <p:nvSpPr>
          <p:cNvPr id="12" name="TextBox 11"/>
          <p:cNvSpPr txBox="1"/>
          <p:nvPr/>
        </p:nvSpPr>
        <p:spPr>
          <a:xfrm>
            <a:off x="640080" y="3520440"/>
            <a:ext cx="11064240" cy="2377440"/>
          </a:xfrm>
          <a:prstGeom prst="rect">
            <a:avLst/>
          </a:prstGeom>
          <a:noFill/>
        </p:spPr>
        <p:txBody>
          <a:bodyPr wrap="square">
            <a:spAutoFit/>
          </a:bodyPr>
          <a:lstStyle/>
          <a:p>
            <a:pPr algn="l">
              <a:spcAft>
                <a:spcPts val="1200"/>
              </a:spcAft>
            </a:pPr>
            <a:r>
              <a:rPr sz="1550" b="1">
                <a:solidFill>
                  <a:srgbClr val="2A9D8F"/>
                </a:solidFill>
              </a:rPr>
              <a:t>▸  </a:t>
            </a:r>
            <a:r>
              <a:rPr sz="1550" b="0" i="0">
                <a:solidFill>
                  <a:srgbClr val="222A35"/>
                </a:solidFill>
                <a:latin typeface="Calibri"/>
              </a:rPr>
              <a:t>Step 0 is a smoke test — processes a single day without writing; if it fails the cluster terminates, so the other 10 steps cost nothing.</a:t>
            </a:r>
          </a:p>
          <a:p>
            <a:pPr algn="l">
              <a:spcAft>
                <a:spcPts val="1200"/>
              </a:spcAft>
            </a:pPr>
            <a:r>
              <a:rPr sz="1550" b="1">
                <a:solidFill>
                  <a:srgbClr val="2A9D8F"/>
                </a:solidFill>
              </a:rPr>
              <a:t>▸  </a:t>
            </a:r>
            <a:r>
              <a:rPr sz="1550" b="0" i="0">
                <a:solidFill>
                  <a:srgbClr val="222A35"/>
                </a:solidFill>
                <a:latin typeface="Calibri"/>
              </a:rPr>
              <a:t>Steps 1–10 chain market_silver → silver_joined → gdelt_silver → the 7 Gold analyses, with ActionOnFailure=CONTINUE so one failure does not abort the rest.</a:t>
            </a:r>
          </a:p>
          <a:p>
            <a:pPr algn="l">
              <a:spcAft>
                <a:spcPts val="1200"/>
              </a:spcAft>
            </a:pPr>
            <a:r>
              <a:rPr sz="1550" b="1">
                <a:solidFill>
                  <a:srgbClr val="2A9D8F"/>
                </a:solidFill>
              </a:rPr>
              <a:t>▸  </a:t>
            </a:r>
            <a:r>
              <a:rPr sz="1550" b="0" i="0">
                <a:solidFill>
                  <a:srgbClr val="222A35"/>
                </a:solidFill>
                <a:latin typeface="Calibri"/>
              </a:rPr>
              <a:t>Result: the entire medallion pipeline — millions of rows across 9 sources — completes in well under an hour for about one dollar.</a:t>
            </a:r>
          </a:p>
        </p:txBody>
      </p:sp>
      <p:sp>
        <p:nvSpPr>
          <p:cNvPr id="13" name="TextBox 12"/>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4" name="TextBox 13"/>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WHAT RUNS IN THE BACKGROUND</a:t>
            </a:r>
          </a:p>
          <a:p>
            <a:pPr algn="l">
              <a:spcAft>
                <a:spcPts val="600"/>
              </a:spcAft>
            </a:pPr>
            <a:r>
              <a:rPr sz="2900" b="1" i="0">
                <a:solidFill>
                  <a:srgbClr val="FFFFFF"/>
                </a:solidFill>
                <a:latin typeface="Calibri"/>
              </a:rPr>
              <a:t>Under the Hood — Spark Workload</a:t>
            </a:r>
          </a:p>
        </p:txBody>
      </p:sp>
      <p:sp>
        <p:nvSpPr>
          <p:cNvPr id="6" name="TextBox 5"/>
          <p:cNvSpPr txBox="1"/>
          <p:nvPr/>
        </p:nvSpPr>
        <p:spPr>
          <a:xfrm>
            <a:off x="640080" y="1234440"/>
            <a:ext cx="11155680" cy="548640"/>
          </a:xfrm>
          <a:prstGeom prst="rect">
            <a:avLst/>
          </a:prstGeom>
          <a:noFill/>
        </p:spPr>
        <p:txBody>
          <a:bodyPr wrap="square">
            <a:spAutoFit/>
          </a:bodyPr>
          <a:lstStyle/>
          <a:p>
            <a:pPr algn="l">
              <a:spcAft>
                <a:spcPts val="600"/>
              </a:spcAft>
            </a:pPr>
            <a:r>
              <a:rPr sz="1600" b="0" i="1">
                <a:solidFill>
                  <a:srgbClr val="5B6677"/>
                </a:solidFill>
                <a:latin typeface="Calibri"/>
              </a:rPr>
              <a:t>Behind each step is a distributed Spark job — here is what they actually do.</a:t>
            </a:r>
          </a:p>
        </p:txBody>
      </p:sp>
      <p:sp>
        <p:nvSpPr>
          <p:cNvPr id="7" name="Rounded Rectangle 6"/>
          <p:cNvSpPr/>
          <p:nvPr/>
        </p:nvSpPr>
        <p:spPr>
          <a:xfrm>
            <a:off x="640080" y="1874519"/>
            <a:ext cx="5349240" cy="16459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1874519"/>
            <a:ext cx="146304" cy="164592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984248"/>
            <a:ext cx="4892040" cy="1463040"/>
          </a:xfrm>
          <a:prstGeom prst="rect">
            <a:avLst/>
          </a:prstGeom>
          <a:noFill/>
        </p:spPr>
        <p:txBody>
          <a:bodyPr wrap="square">
            <a:spAutoFit/>
          </a:bodyPr>
          <a:lstStyle/>
          <a:p>
            <a:pPr algn="l">
              <a:spcAft>
                <a:spcPts val="400"/>
              </a:spcAft>
            </a:pPr>
            <a:r>
              <a:rPr sz="1600" b="1" i="0">
                <a:solidFill>
                  <a:srgbClr val="E76F51"/>
                </a:solidFill>
                <a:latin typeface="Calibri"/>
              </a:rPr>
              <a:t>Trunk join</a:t>
            </a:r>
          </a:p>
          <a:p>
            <a:pPr algn="l">
              <a:spcAft>
                <a:spcPts val="600"/>
              </a:spcAft>
            </a:pPr>
            <a:r>
              <a:rPr sz="1250" b="0" i="0">
                <a:solidFill>
                  <a:srgbClr val="222A35"/>
                </a:solidFill>
                <a:latin typeface="Calibri"/>
              </a:rPr>
              <a:t>silver_joined performs a FULL OUTER JOIN of retail × hal on (date, city, product); the small mapping CSV is broadcast to every executor to avoid a shuffle.</a:t>
            </a:r>
          </a:p>
        </p:txBody>
      </p:sp>
      <p:sp>
        <p:nvSpPr>
          <p:cNvPr id="10" name="Rounded Rectangle 9"/>
          <p:cNvSpPr/>
          <p:nvPr/>
        </p:nvSpPr>
        <p:spPr>
          <a:xfrm>
            <a:off x="6217920" y="1874519"/>
            <a:ext cx="5349240" cy="16459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874519"/>
            <a:ext cx="146304" cy="164592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10528" y="1984248"/>
            <a:ext cx="4892040" cy="1463040"/>
          </a:xfrm>
          <a:prstGeom prst="rect">
            <a:avLst/>
          </a:prstGeom>
          <a:noFill/>
        </p:spPr>
        <p:txBody>
          <a:bodyPr wrap="square">
            <a:spAutoFit/>
          </a:bodyPr>
          <a:lstStyle/>
          <a:p>
            <a:pPr algn="l">
              <a:spcAft>
                <a:spcPts val="400"/>
              </a:spcAft>
            </a:pPr>
            <a:r>
              <a:rPr sz="1600" b="1" i="0">
                <a:solidFill>
                  <a:srgbClr val="1B2A4A"/>
                </a:solidFill>
                <a:latin typeface="Calibri"/>
              </a:rPr>
              <a:t>Window functions</a:t>
            </a:r>
          </a:p>
          <a:p>
            <a:pPr algn="l">
              <a:spcAft>
                <a:spcPts val="600"/>
              </a:spcAft>
            </a:pPr>
            <a:r>
              <a:rPr sz="1250" b="0" i="0">
                <a:solidFill>
                  <a:srgbClr val="222A35"/>
                </a:solidFill>
                <a:latin typeface="Calibri"/>
              </a:rPr>
              <a:t>daily_margin computes 7-day rolling averages with Spark Window functions — partitioned by city/product, no full shuffle.</a:t>
            </a:r>
          </a:p>
        </p:txBody>
      </p:sp>
      <p:sp>
        <p:nvSpPr>
          <p:cNvPr id="13" name="Rounded Rectangle 12"/>
          <p:cNvSpPr/>
          <p:nvPr/>
        </p:nvSpPr>
        <p:spPr>
          <a:xfrm>
            <a:off x="640080" y="3703320"/>
            <a:ext cx="5349240" cy="16459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40080" y="3703320"/>
            <a:ext cx="146304" cy="164592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32688" y="3813048"/>
            <a:ext cx="4892040" cy="1463040"/>
          </a:xfrm>
          <a:prstGeom prst="rect">
            <a:avLst/>
          </a:prstGeom>
          <a:noFill/>
        </p:spPr>
        <p:txBody>
          <a:bodyPr wrap="square">
            <a:spAutoFit/>
          </a:bodyPr>
          <a:lstStyle/>
          <a:p>
            <a:pPr algn="l">
              <a:spcAft>
                <a:spcPts val="400"/>
              </a:spcAft>
            </a:pPr>
            <a:r>
              <a:rPr sz="1600" b="1" i="0">
                <a:solidFill>
                  <a:srgbClr val="2A9D8F"/>
                </a:solidFill>
                <a:latin typeface="Calibri"/>
              </a:rPr>
              <a:t>Distributed model fit</a:t>
            </a:r>
          </a:p>
          <a:p>
            <a:pPr algn="l">
              <a:spcAft>
                <a:spcPts val="600"/>
              </a:spcAft>
            </a:pPr>
            <a:r>
              <a:rPr sz="1250" b="0" i="0">
                <a:solidFill>
                  <a:srgbClr val="222A35"/>
                </a:solidFill>
                <a:latin typeface="Calibri"/>
              </a:rPr>
              <a:t>rockets_feathers, shock_propagation and Prophet fit one statistical model per product group via applyInPandas — each executor fits in parallel, not the driver.</a:t>
            </a:r>
          </a:p>
        </p:txBody>
      </p:sp>
      <p:sp>
        <p:nvSpPr>
          <p:cNvPr id="16" name="Rounded Rectangle 15"/>
          <p:cNvSpPr/>
          <p:nvPr/>
        </p:nvSpPr>
        <p:spPr>
          <a:xfrm>
            <a:off x="6217920" y="3703320"/>
            <a:ext cx="5349240" cy="16459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3703320"/>
            <a:ext cx="146304" cy="1645920"/>
          </a:xfrm>
          <a:prstGeom prst="roundRect">
            <a:avLst/>
          </a:prstGeom>
          <a:solidFill>
            <a:srgbClr val="E9C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10528" y="3813048"/>
            <a:ext cx="4892040" cy="1463040"/>
          </a:xfrm>
          <a:prstGeom prst="rect">
            <a:avLst/>
          </a:prstGeom>
          <a:noFill/>
        </p:spPr>
        <p:txBody>
          <a:bodyPr wrap="square">
            <a:spAutoFit/>
          </a:bodyPr>
          <a:lstStyle/>
          <a:p>
            <a:pPr algn="l">
              <a:spcAft>
                <a:spcPts val="400"/>
              </a:spcAft>
            </a:pPr>
            <a:r>
              <a:rPr sz="1600" b="1" i="0">
                <a:solidFill>
                  <a:srgbClr val="E9C46A"/>
                </a:solidFill>
                <a:latin typeface="Calibri"/>
              </a:rPr>
              <a:t>Spark optimisations</a:t>
            </a:r>
          </a:p>
          <a:p>
            <a:pPr algn="l">
              <a:spcAft>
                <a:spcPts val="600"/>
              </a:spcAft>
            </a:pPr>
            <a:r>
              <a:rPr sz="1250" b="0" i="0">
                <a:solidFill>
                  <a:srgbClr val="222A35"/>
                </a:solidFill>
                <a:latin typeface="Calibri"/>
              </a:rPr>
              <a:t>Adaptive Query Execution coalesces shuffle partitions; year/month partition pruning skips S3 folders the query never needs.</a:t>
            </a:r>
          </a:p>
        </p:txBody>
      </p:sp>
      <p:sp>
        <p:nvSpPr>
          <p:cNvPr id="19" name="Rounded Rectangle 18"/>
          <p:cNvSpPr/>
          <p:nvPr/>
        </p:nvSpPr>
        <p:spPr>
          <a:xfrm>
            <a:off x="640080" y="5623560"/>
            <a:ext cx="10908792" cy="621792"/>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400" b="1" i="0">
                <a:solidFill>
                  <a:srgbClr val="FFFFFF"/>
                </a:solidFill>
                <a:latin typeface="Calibri"/>
              </a:rPr>
              <a:t>Heavy lifting is distributed across the cluster — the driver only collects small, already-aggregated results.</a:t>
            </a:r>
          </a:p>
        </p:txBody>
      </p:sp>
      <p:sp>
        <p:nvSpPr>
          <p:cNvPr id="20" name="TextBox 1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21" name="TextBox 2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THE ANALYTICAL TOOLBOX</a:t>
            </a:r>
          </a:p>
          <a:p>
            <a:pPr algn="l">
              <a:spcAft>
                <a:spcPts val="600"/>
              </a:spcAft>
            </a:pPr>
            <a:r>
              <a:rPr sz="2900" b="1" i="0">
                <a:solidFill>
                  <a:srgbClr val="FFFFFF"/>
                </a:solidFill>
                <a:latin typeface="Calibri"/>
              </a:rPr>
              <a:t>Methodology</a:t>
            </a:r>
          </a:p>
        </p:txBody>
      </p:sp>
      <p:graphicFrame>
        <p:nvGraphicFramePr>
          <p:cNvPr id="6" name="Table 5"/>
          <p:cNvGraphicFramePr>
            <a:graphicFrameLocks noGrp="1"/>
          </p:cNvGraphicFramePr>
          <p:nvPr/>
        </p:nvGraphicFramePr>
        <p:xfrm>
          <a:off x="640080" y="1371600"/>
          <a:ext cx="10908792" cy="4572000"/>
        </p:xfrm>
        <a:graphic>
          <a:graphicData uri="http://schemas.openxmlformats.org/drawingml/2006/table">
            <a:tbl>
              <a:tblPr firstRow="1" bandRow="1">
                <a:tableStyleId>{5C22544A-7EE6-4342-B048-85BDC9FD1C3A}</a:tableStyleId>
              </a:tblPr>
              <a:tblGrid>
                <a:gridCol w="2651760"/>
                <a:gridCol w="2468880"/>
                <a:gridCol w="5788152"/>
              </a:tblGrid>
              <a:tr h="762000">
                <a:tc>
                  <a:txBody>
                    <a:bodyPr/>
                    <a:lstStyle/>
                    <a:p>
                      <a:r>
                        <a:rPr sz="1300" b="1">
                          <a:solidFill>
                            <a:srgbClr val="FFFFFF"/>
                          </a:solidFill>
                          <a:latin typeface="Calibri"/>
                        </a:rPr>
                        <a:t>Method</a:t>
                      </a:r>
                    </a:p>
                  </a:txBody>
                  <a:tcPr anchor="ctr" marL="91440">
                    <a:solidFill>
                      <a:srgbClr val="1B2A4A"/>
                    </a:solidFill>
                  </a:tcPr>
                </a:tc>
                <a:tc>
                  <a:txBody>
                    <a:bodyPr/>
                    <a:lstStyle/>
                    <a:p>
                      <a:r>
                        <a:rPr sz="1300" b="1">
                          <a:solidFill>
                            <a:srgbClr val="FFFFFF"/>
                          </a:solidFill>
                          <a:latin typeface="Calibri"/>
                        </a:rPr>
                        <a:t>Used for</a:t>
                      </a:r>
                    </a:p>
                  </a:txBody>
                  <a:tcPr anchor="ctr" marL="91440">
                    <a:solidFill>
                      <a:srgbClr val="1B2A4A"/>
                    </a:solidFill>
                  </a:tcPr>
                </a:tc>
                <a:tc>
                  <a:txBody>
                    <a:bodyPr/>
                    <a:lstStyle/>
                    <a:p>
                      <a:r>
                        <a:rPr sz="1300" b="1">
                          <a:solidFill>
                            <a:srgbClr val="FFFFFF"/>
                          </a:solidFill>
                          <a:latin typeface="Calibri"/>
                        </a:rPr>
                        <a:t>What it does</a:t>
                      </a:r>
                    </a:p>
                  </a:txBody>
                  <a:tcPr anchor="ctr" marL="91440">
                    <a:solidFill>
                      <a:srgbClr val="1B2A4A"/>
                    </a:solidFill>
                  </a:tcPr>
                </a:tc>
              </a:tr>
              <a:tr h="762000">
                <a:tc>
                  <a:txBody>
                    <a:bodyPr/>
                    <a:lstStyle/>
                    <a:p>
                      <a:r>
                        <a:rPr sz="1400" b="1">
                          <a:solidFill>
                            <a:srgbClr val="1B2A4A"/>
                          </a:solidFill>
                          <a:latin typeface="Calibri"/>
                        </a:rPr>
                        <a:t>Asymmetric Error-</a:t>
                      </a:r>
                    </a:p>
                    <a:p>
                      <a:r>
                        <a:rPr sz="1400" b="1">
                          <a:solidFill>
                            <a:srgbClr val="1B2A4A"/>
                          </a:solidFill>
                          <a:latin typeface="Calibri"/>
                        </a:rPr>
                        <a:t>Correction Model</a:t>
                      </a:r>
                    </a:p>
                  </a:txBody>
                  <a:tcPr anchor="ctr" marL="91440">
                    <a:solidFill>
                      <a:srgbClr val="F1F3F6"/>
                    </a:solidFill>
                  </a:tcPr>
                </a:tc>
                <a:tc>
                  <a:txBody>
                    <a:bodyPr/>
                    <a:lstStyle/>
                    <a:p>
                      <a:r>
                        <a:rPr sz="1400" b="0">
                          <a:solidFill>
                            <a:srgbClr val="222A35"/>
                          </a:solidFill>
                          <a:latin typeface="Calibri"/>
                        </a:rPr>
                        <a:t>Rockets &amp; Feathers</a:t>
                      </a:r>
                    </a:p>
                  </a:txBody>
                  <a:tcPr anchor="ctr" marL="91440">
                    <a:solidFill>
                      <a:srgbClr val="F1F3F6"/>
                    </a:solidFill>
                  </a:tcPr>
                </a:tc>
                <a:tc>
                  <a:txBody>
                    <a:bodyPr/>
                    <a:lstStyle/>
                    <a:p>
                      <a:r>
                        <a:rPr sz="1400" b="0">
                          <a:solidFill>
                            <a:srgbClr val="222A35"/>
                          </a:solidFill>
                          <a:latin typeface="Calibri"/>
                        </a:rPr>
                        <a:t>Engle-Granger ECM splitting up/down moves → asymmetry score = Σβ⁺ / |Σβ⁻|.</a:t>
                      </a:r>
                    </a:p>
                  </a:txBody>
                  <a:tcPr anchor="ctr" marL="91440">
                    <a:solidFill>
                      <a:srgbClr val="F1F3F6"/>
                    </a:solidFill>
                  </a:tcPr>
                </a:tc>
              </a:tr>
              <a:tr h="762000">
                <a:tc>
                  <a:txBody>
                    <a:bodyPr/>
                    <a:lstStyle/>
                    <a:p>
                      <a:r>
                        <a:rPr sz="1400" b="1">
                          <a:solidFill>
                            <a:srgbClr val="1B2A4A"/>
                          </a:solidFill>
                          <a:latin typeface="Calibri"/>
                        </a:rPr>
                        <a:t>Event study +</a:t>
                      </a:r>
                    </a:p>
                    <a:p>
                      <a:r>
                        <a:rPr sz="1400" b="1">
                          <a:solidFill>
                            <a:srgbClr val="1B2A4A"/>
                          </a:solidFill>
                          <a:latin typeface="Calibri"/>
                        </a:rPr>
                        <a:t>lag detection</a:t>
                      </a:r>
                    </a:p>
                  </a:txBody>
                  <a:tcPr anchor="ctr" marL="91440">
                    <a:solidFill>
                      <a:srgbClr val="FFFFFF"/>
                    </a:solidFill>
                  </a:tcPr>
                </a:tc>
                <a:tc>
                  <a:txBody>
                    <a:bodyPr/>
                    <a:lstStyle/>
                    <a:p>
                      <a:r>
                        <a:rPr sz="1400" b="0">
                          <a:solidFill>
                            <a:srgbClr val="222A35"/>
                          </a:solidFill>
                          <a:latin typeface="Calibri"/>
                        </a:rPr>
                        <a:t>Shock propagation</a:t>
                      </a:r>
                    </a:p>
                  </a:txBody>
                  <a:tcPr anchor="ctr" marL="91440">
                    <a:solidFill>
                      <a:srgbClr val="FFFFFF"/>
                    </a:solidFill>
                  </a:tcPr>
                </a:tc>
                <a:tc>
                  <a:txBody>
                    <a:bodyPr/>
                    <a:lstStyle/>
                    <a:p>
                      <a:r>
                        <a:rPr sz="1400" b="0">
                          <a:solidFill>
                            <a:srgbClr val="222A35"/>
                          </a:solidFill>
                          <a:latin typeface="Calibri"/>
                        </a:rPr>
                        <a:t>Detect frost/heat/rain events, count days until price crosses +10% over baseline.</a:t>
                      </a:r>
                    </a:p>
                  </a:txBody>
                  <a:tcPr anchor="ctr" marL="91440">
                    <a:solidFill>
                      <a:srgbClr val="FFFFFF"/>
                    </a:solidFill>
                  </a:tcPr>
                </a:tc>
              </a:tr>
              <a:tr h="762000">
                <a:tc>
                  <a:txBody>
                    <a:bodyPr/>
                    <a:lstStyle/>
                    <a:p>
                      <a:r>
                        <a:rPr sz="1400" b="1">
                          <a:solidFill>
                            <a:srgbClr val="1B2A4A"/>
                          </a:solidFill>
                          <a:latin typeface="Calibri"/>
                        </a:rPr>
                        <a:t>Coefficient of</a:t>
                      </a:r>
                    </a:p>
                    <a:p>
                      <a:r>
                        <a:rPr sz="1400" b="1">
                          <a:solidFill>
                            <a:srgbClr val="1B2A4A"/>
                          </a:solidFill>
                          <a:latin typeface="Calibri"/>
                        </a:rPr>
                        <a:t>variation &amp; spread</a:t>
                      </a:r>
                    </a:p>
                  </a:txBody>
                  <a:tcPr anchor="ctr" marL="91440">
                    <a:solidFill>
                      <a:srgbClr val="F1F3F6"/>
                    </a:solidFill>
                  </a:tcPr>
                </a:tc>
                <a:tc>
                  <a:txBody>
                    <a:bodyPr/>
                    <a:lstStyle/>
                    <a:p>
                      <a:r>
                        <a:rPr sz="1400" b="0">
                          <a:solidFill>
                            <a:srgbClr val="222A35"/>
                          </a:solidFill>
                          <a:latin typeface="Calibri"/>
                        </a:rPr>
                        <a:t>Price inequality</a:t>
                      </a:r>
                    </a:p>
                  </a:txBody>
                  <a:tcPr anchor="ctr" marL="91440">
                    <a:solidFill>
                      <a:srgbClr val="F1F3F6"/>
                    </a:solidFill>
                  </a:tcPr>
                </a:tc>
                <a:tc>
                  <a:txBody>
                    <a:bodyPr/>
                    <a:lstStyle/>
                    <a:p>
                      <a:r>
                        <a:rPr sz="1400" b="0">
                          <a:solidFill>
                            <a:srgbClr val="222A35"/>
                          </a:solidFill>
                          <a:latin typeface="Calibri"/>
                        </a:rPr>
                        <a:t>Std/mean and (max−min)/avg of one product across 81 provinces.</a:t>
                      </a:r>
                    </a:p>
                  </a:txBody>
                  <a:tcPr anchor="ctr" marL="91440">
                    <a:solidFill>
                      <a:srgbClr val="F1F3F6"/>
                    </a:solidFill>
                  </a:tcPr>
                </a:tc>
              </a:tr>
              <a:tr h="762000">
                <a:tc>
                  <a:txBody>
                    <a:bodyPr/>
                    <a:lstStyle/>
                    <a:p>
                      <a:r>
                        <a:rPr sz="1400" b="1">
                          <a:solidFill>
                            <a:srgbClr val="1B2A4A"/>
                          </a:solidFill>
                          <a:latin typeface="Calibri"/>
                        </a:rPr>
                        <a:t>Pearson lag</a:t>
                      </a:r>
                    </a:p>
                    <a:p>
                      <a:r>
                        <a:rPr sz="1400" b="1">
                          <a:solidFill>
                            <a:srgbClr val="1B2A4A"/>
                          </a:solidFill>
                          <a:latin typeface="Calibri"/>
                        </a:rPr>
                        <a:t>correlation</a:t>
                      </a:r>
                    </a:p>
                  </a:txBody>
                  <a:tcPr anchor="ctr" marL="91440">
                    <a:solidFill>
                      <a:srgbClr val="FFFFFF"/>
                    </a:solidFill>
                  </a:tcPr>
                </a:tc>
                <a:tc>
                  <a:txBody>
                    <a:bodyPr/>
                    <a:lstStyle/>
                    <a:p>
                      <a:r>
                        <a:rPr sz="1400" b="0">
                          <a:solidFill>
                            <a:srgbClr val="222A35"/>
                          </a:solidFill>
                          <a:latin typeface="Calibri"/>
                        </a:rPr>
                        <a:t>Macro &amp; news drivers</a:t>
                      </a:r>
                    </a:p>
                  </a:txBody>
                  <a:tcPr anchor="ctr" marL="91440">
                    <a:solidFill>
                      <a:srgbClr val="FFFFFF"/>
                    </a:solidFill>
                  </a:tcPr>
                </a:tc>
                <a:tc>
                  <a:txBody>
                    <a:bodyPr/>
                    <a:lstStyle/>
                    <a:p>
                      <a:r>
                        <a:rPr sz="1400" b="0">
                          <a:solidFill>
                            <a:srgbClr val="222A35"/>
                          </a:solidFill>
                          <a:latin typeface="Calibri"/>
                        </a:rPr>
                        <a:t>Correlate price change with macro/news series at lags 0–30 days; report best lag + p-value.</a:t>
                      </a:r>
                    </a:p>
                  </a:txBody>
                  <a:tcPr anchor="ctr" marL="91440">
                    <a:solidFill>
                      <a:srgbClr val="FFFFFF"/>
                    </a:solidFill>
                  </a:tcPr>
                </a:tc>
              </a:tr>
              <a:tr h="762000">
                <a:tc>
                  <a:txBody>
                    <a:bodyPr/>
                    <a:lstStyle/>
                    <a:p>
                      <a:r>
                        <a:rPr sz="1400" b="1">
                          <a:solidFill>
                            <a:srgbClr val="1B2A4A"/>
                          </a:solidFill>
                          <a:latin typeface="Calibri"/>
                        </a:rPr>
                        <a:t>Prophet additive</a:t>
                      </a:r>
                    </a:p>
                    <a:p>
                      <a:r>
                        <a:rPr sz="1400" b="1">
                          <a:solidFill>
                            <a:srgbClr val="1B2A4A"/>
                          </a:solidFill>
                          <a:latin typeface="Calibri"/>
                        </a:rPr>
                        <a:t>model</a:t>
                      </a:r>
                    </a:p>
                  </a:txBody>
                  <a:tcPr anchor="ctr" marL="91440">
                    <a:solidFill>
                      <a:srgbClr val="F1F3F6"/>
                    </a:solidFill>
                  </a:tcPr>
                </a:tc>
                <a:tc>
                  <a:txBody>
                    <a:bodyPr/>
                    <a:lstStyle/>
                    <a:p>
                      <a:r>
                        <a:rPr sz="1400" b="0">
                          <a:solidFill>
                            <a:srgbClr val="222A35"/>
                          </a:solidFill>
                          <a:latin typeface="Calibri"/>
                        </a:rPr>
                        <a:t>Forecasting</a:t>
                      </a:r>
                    </a:p>
                  </a:txBody>
                  <a:tcPr anchor="ctr" marL="91440">
                    <a:solidFill>
                      <a:srgbClr val="F1F3F6"/>
                    </a:solidFill>
                  </a:tcPr>
                </a:tc>
                <a:tc>
                  <a:txBody>
                    <a:bodyPr/>
                    <a:lstStyle/>
                    <a:p>
                      <a:r>
                        <a:rPr sz="1400" b="0">
                          <a:solidFill>
                            <a:srgbClr val="222A35"/>
                          </a:solidFill>
                          <a:latin typeface="Calibri"/>
                        </a:rPr>
                        <a:t>Trend + yearly seasonality + changepoints → 30-day forecast with uncertainty bands.</a:t>
                      </a:r>
                    </a:p>
                  </a:txBody>
                  <a:tcPr anchor="ctr" marL="91440">
                    <a:solidFill>
                      <a:srgbClr val="F1F3F6"/>
                    </a:solidFill>
                  </a:tcPr>
                </a:tc>
              </a:tr>
            </a:tbl>
          </a:graphicData>
        </a:graphic>
      </p:graphicFrame>
      <p:sp>
        <p:nvSpPr>
          <p:cNvPr id="7" name="TextBox 6"/>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8" name="TextBox 7"/>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RESULT 1 OF 6</a:t>
            </a:r>
          </a:p>
          <a:p>
            <a:pPr algn="l">
              <a:spcAft>
                <a:spcPts val="600"/>
              </a:spcAft>
            </a:pPr>
            <a:r>
              <a:rPr sz="2900" b="1" i="0">
                <a:solidFill>
                  <a:srgbClr val="FFFFFF"/>
                </a:solidFill>
                <a:latin typeface="Calibri"/>
              </a:rPr>
              <a:t>Daily Hal → Retail Margin</a:t>
            </a:r>
          </a:p>
        </p:txBody>
      </p:sp>
      <p:pic>
        <p:nvPicPr>
          <p:cNvPr id="6" name="Picture 5" descr="margin_dist.png"/>
          <p:cNvPicPr>
            <a:picLocks noChangeAspect="1"/>
          </p:cNvPicPr>
          <p:nvPr/>
        </p:nvPicPr>
        <p:blipFill>
          <a:blip r:embed="rId2"/>
          <a:stretch>
            <a:fillRect/>
          </a:stretch>
        </p:blipFill>
        <p:spPr>
          <a:xfrm>
            <a:off x="457200" y="1417320"/>
            <a:ext cx="7040880" cy="2828105"/>
          </a:xfrm>
          <a:prstGeom prst="rect">
            <a:avLst/>
          </a:prstGeom>
        </p:spPr>
      </p:pic>
      <p:sp>
        <p:nvSpPr>
          <p:cNvPr id="7" name="Rounded Rectangle 6"/>
          <p:cNvSpPr/>
          <p:nvPr/>
        </p:nvSpPr>
        <p:spPr>
          <a:xfrm>
            <a:off x="7726679" y="1417320"/>
            <a:ext cx="3977639" cy="37033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600200"/>
            <a:ext cx="3566160" cy="3383280"/>
          </a:xfrm>
          <a:prstGeom prst="rect">
            <a:avLst/>
          </a:prstGeom>
          <a:noFill/>
        </p:spPr>
        <p:txBody>
          <a:bodyPr wrap="square">
            <a:spAutoFit/>
          </a:bodyPr>
          <a:lstStyle/>
          <a:p>
            <a:pPr algn="l">
              <a:spcAft>
                <a:spcPts val="1000"/>
              </a:spcAft>
            </a:pPr>
            <a:r>
              <a:rPr sz="1400" b="1" i="0">
                <a:solidFill>
                  <a:srgbClr val="2A9D8F"/>
                </a:solidFill>
                <a:latin typeface="Calibri"/>
              </a:rPr>
              <a:t>KEY FINDINGS</a:t>
            </a:r>
          </a:p>
          <a:p>
            <a:pPr algn="l">
              <a:spcAft>
                <a:spcPts val="900"/>
              </a:spcAft>
            </a:pPr>
            <a:r>
              <a:rPr sz="1600" b="1">
                <a:solidFill>
                  <a:srgbClr val="2A9D8F"/>
                </a:solidFill>
              </a:rPr>
              <a:t>▸  </a:t>
            </a:r>
            <a:r>
              <a:rPr sz="1600" b="0" i="0">
                <a:solidFill>
                  <a:srgbClr val="222A35"/>
                </a:solidFill>
                <a:latin typeface="Calibri"/>
              </a:rPr>
              <a:t>Every daily hal→retail price record in the run is analysed.</a:t>
            </a:r>
          </a:p>
          <a:p>
            <a:pPr algn="l">
              <a:spcAft>
                <a:spcPts val="900"/>
              </a:spcAft>
            </a:pPr>
            <a:r>
              <a:rPr sz="1600" b="1">
                <a:solidFill>
                  <a:srgbClr val="2A9D8F"/>
                </a:solidFill>
              </a:rPr>
              <a:t>▸  </a:t>
            </a:r>
            <a:r>
              <a:rPr sz="1600" b="0" i="0">
                <a:solidFill>
                  <a:srgbClr val="222A35"/>
                </a:solidFill>
                <a:latin typeface="Calibri"/>
              </a:rPr>
              <a:t>Median markup: the shelf price is typically close to double the wholesale price.</a:t>
            </a:r>
          </a:p>
          <a:p>
            <a:pPr algn="l">
              <a:spcAft>
                <a:spcPts val="900"/>
              </a:spcAft>
            </a:pPr>
            <a:r>
              <a:rPr sz="1600" b="1">
                <a:solidFill>
                  <a:srgbClr val="2A9D8F"/>
                </a:solidFill>
              </a:rPr>
              <a:t>▸  </a:t>
            </a:r>
            <a:r>
              <a:rPr sz="1600" b="0" i="0">
                <a:solidFill>
                  <a:srgbClr val="222A35"/>
                </a:solidFill>
                <a:latin typeface="Calibri"/>
              </a:rPr>
              <a:t>A long right tail — some product/province cases show extreme margins that pull the mean far above the median.</a:t>
            </a:r>
          </a:p>
          <a:p>
            <a:pPr algn="l">
              <a:spcAft>
                <a:spcPts val="900"/>
              </a:spcAft>
            </a:pPr>
            <a:r>
              <a:rPr sz="1600" b="1">
                <a:solidFill>
                  <a:srgbClr val="2A9D8F"/>
                </a:solidFill>
              </a:rPr>
              <a:t>▸  </a:t>
            </a:r>
            <a:r>
              <a:rPr sz="1600" b="0" i="0">
                <a:solidFill>
                  <a:srgbClr val="222A35"/>
                </a:solidFill>
                <a:latin typeface="Calibri"/>
              </a:rPr>
              <a:t>Average margin varies clearly from province to province.</a:t>
            </a:r>
          </a:p>
        </p:txBody>
      </p:sp>
      <p:sp>
        <p:nvSpPr>
          <p:cNvPr id="9" name="Rounded Rectangle 8"/>
          <p:cNvSpPr/>
          <p:nvPr/>
        </p:nvSpPr>
        <p:spPr>
          <a:xfrm>
            <a:off x="457200" y="5349240"/>
            <a:ext cx="11247120" cy="84124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INSIGHT   On the typical product the retailer's price is roughly double what the wholesaler charged.</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RESULT 2 OF 6</a:t>
            </a:r>
          </a:p>
          <a:p>
            <a:pPr algn="l">
              <a:spcAft>
                <a:spcPts val="600"/>
              </a:spcAft>
            </a:pPr>
            <a:r>
              <a:rPr sz="2900" b="1" i="0">
                <a:solidFill>
                  <a:srgbClr val="FFFFFF"/>
                </a:solidFill>
                <a:latin typeface="Calibri"/>
              </a:rPr>
              <a:t>Rockets &amp; Feathers — Asymmetry</a:t>
            </a:r>
          </a:p>
        </p:txBody>
      </p:sp>
      <p:pic>
        <p:nvPicPr>
          <p:cNvPr id="6" name="Picture 5" descr="rockets_feathers.png"/>
          <p:cNvPicPr>
            <a:picLocks noChangeAspect="1"/>
          </p:cNvPicPr>
          <p:nvPr/>
        </p:nvPicPr>
        <p:blipFill>
          <a:blip r:embed="rId2"/>
          <a:stretch>
            <a:fillRect/>
          </a:stretch>
        </p:blipFill>
        <p:spPr>
          <a:xfrm>
            <a:off x="457200" y="1417320"/>
            <a:ext cx="7040880" cy="3316625"/>
          </a:xfrm>
          <a:prstGeom prst="rect">
            <a:avLst/>
          </a:prstGeom>
        </p:spPr>
      </p:pic>
      <p:sp>
        <p:nvSpPr>
          <p:cNvPr id="7" name="Rounded Rectangle 6"/>
          <p:cNvSpPr/>
          <p:nvPr/>
        </p:nvSpPr>
        <p:spPr>
          <a:xfrm>
            <a:off x="7726679" y="1417320"/>
            <a:ext cx="3977639" cy="37033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600200"/>
            <a:ext cx="3566160" cy="3383280"/>
          </a:xfrm>
          <a:prstGeom prst="rect">
            <a:avLst/>
          </a:prstGeom>
          <a:noFill/>
        </p:spPr>
        <p:txBody>
          <a:bodyPr wrap="square">
            <a:spAutoFit/>
          </a:bodyPr>
          <a:lstStyle/>
          <a:p>
            <a:pPr algn="l">
              <a:spcAft>
                <a:spcPts val="1000"/>
              </a:spcAft>
            </a:pPr>
            <a:r>
              <a:rPr sz="1400" b="1" i="0">
                <a:solidFill>
                  <a:srgbClr val="2A9D8F"/>
                </a:solidFill>
                <a:latin typeface="Calibri"/>
              </a:rPr>
              <a:t>KEY FINDINGS</a:t>
            </a:r>
          </a:p>
          <a:p>
            <a:pPr algn="l">
              <a:spcAft>
                <a:spcPts val="900"/>
              </a:spcAft>
            </a:pPr>
            <a:r>
              <a:rPr sz="1600" b="1">
                <a:solidFill>
                  <a:srgbClr val="2A9D8F"/>
                </a:solidFill>
              </a:rPr>
              <a:t>▸  </a:t>
            </a:r>
            <a:r>
              <a:rPr sz="1600" b="0" i="0">
                <a:solidFill>
                  <a:srgbClr val="222A35"/>
                </a:solidFill>
                <a:latin typeface="Calibri"/>
              </a:rPr>
              <a:t>Asymmetric ECM fitted per product (≥150 observations each).</a:t>
            </a:r>
          </a:p>
          <a:p>
            <a:pPr algn="l">
              <a:spcAft>
                <a:spcPts val="900"/>
              </a:spcAft>
            </a:pPr>
            <a:r>
              <a:rPr sz="1600" b="1">
                <a:solidFill>
                  <a:srgbClr val="2A9D8F"/>
                </a:solidFill>
              </a:rPr>
              <a:t>▸  </a:t>
            </a:r>
            <a:r>
              <a:rPr sz="1600" b="0" i="0">
                <a:solidFill>
                  <a:srgbClr val="222A35"/>
                </a:solidFill>
                <a:latin typeface="Calibri"/>
              </a:rPr>
              <a:t>Score &gt; 1 = "rocket": shelf rises fast on cost increases.</a:t>
            </a:r>
          </a:p>
          <a:p>
            <a:pPr algn="l">
              <a:spcAft>
                <a:spcPts val="900"/>
              </a:spcAft>
            </a:pPr>
            <a:r>
              <a:rPr sz="1600" b="1">
                <a:solidFill>
                  <a:srgbClr val="2A9D8F"/>
                </a:solidFill>
              </a:rPr>
              <a:t>▸  </a:t>
            </a:r>
            <a:r>
              <a:rPr sz="1600" b="0" i="0">
                <a:solidFill>
                  <a:srgbClr val="222A35"/>
                </a:solidFill>
                <a:latin typeface="Calibri"/>
              </a:rPr>
              <a:t>Score &lt; 1 = "feather": shelf falls slowly on cost decreases.</a:t>
            </a:r>
          </a:p>
          <a:p>
            <a:pPr algn="l">
              <a:spcAft>
                <a:spcPts val="900"/>
              </a:spcAft>
            </a:pPr>
            <a:r>
              <a:rPr sz="1600" b="1">
                <a:solidFill>
                  <a:srgbClr val="2A9D8F"/>
                </a:solidFill>
              </a:rPr>
              <a:t>▸  </a:t>
            </a:r>
            <a:r>
              <a:rPr sz="1600" b="0" i="0">
                <a:solidFill>
                  <a:srgbClr val="222A35"/>
                </a:solidFill>
                <a:latin typeface="Calibri"/>
              </a:rPr>
              <a:t>Staples like garlic &amp; potato show the strongest rocket behaviour.</a:t>
            </a:r>
          </a:p>
        </p:txBody>
      </p:sp>
      <p:sp>
        <p:nvSpPr>
          <p:cNvPr id="9" name="Rounded Rectangle 8"/>
          <p:cNvSpPr/>
          <p:nvPr/>
        </p:nvSpPr>
        <p:spPr>
          <a:xfrm>
            <a:off x="457200" y="5349240"/>
            <a:ext cx="11247120" cy="84124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INSIGHT   Several staple products pass cost increases through far faster than they pass decreases — measurable consumer-unfavourable asymmetry.</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RESULT 3 OF 6</a:t>
            </a:r>
          </a:p>
          <a:p>
            <a:pPr algn="l">
              <a:spcAft>
                <a:spcPts val="600"/>
              </a:spcAft>
            </a:pPr>
            <a:r>
              <a:rPr sz="2900" b="1" i="0">
                <a:solidFill>
                  <a:srgbClr val="FFFFFF"/>
                </a:solidFill>
                <a:latin typeface="Calibri"/>
              </a:rPr>
              <a:t>Weather Shock Propagation</a:t>
            </a:r>
          </a:p>
        </p:txBody>
      </p:sp>
      <p:pic>
        <p:nvPicPr>
          <p:cNvPr id="6" name="Picture 5" descr="shock_lag.png"/>
          <p:cNvPicPr>
            <a:picLocks noChangeAspect="1"/>
          </p:cNvPicPr>
          <p:nvPr/>
        </p:nvPicPr>
        <p:blipFill>
          <a:blip r:embed="rId2"/>
          <a:stretch>
            <a:fillRect/>
          </a:stretch>
        </p:blipFill>
        <p:spPr>
          <a:xfrm>
            <a:off x="457200" y="1417320"/>
            <a:ext cx="7040880" cy="3237234"/>
          </a:xfrm>
          <a:prstGeom prst="rect">
            <a:avLst/>
          </a:prstGeom>
        </p:spPr>
      </p:pic>
      <p:sp>
        <p:nvSpPr>
          <p:cNvPr id="7" name="Rounded Rectangle 6"/>
          <p:cNvSpPr/>
          <p:nvPr/>
        </p:nvSpPr>
        <p:spPr>
          <a:xfrm>
            <a:off x="7726679" y="1417320"/>
            <a:ext cx="3977639" cy="37033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600200"/>
            <a:ext cx="3566160" cy="3383280"/>
          </a:xfrm>
          <a:prstGeom prst="rect">
            <a:avLst/>
          </a:prstGeom>
          <a:noFill/>
        </p:spPr>
        <p:txBody>
          <a:bodyPr wrap="square">
            <a:spAutoFit/>
          </a:bodyPr>
          <a:lstStyle/>
          <a:p>
            <a:pPr algn="l">
              <a:spcAft>
                <a:spcPts val="1000"/>
              </a:spcAft>
            </a:pPr>
            <a:r>
              <a:rPr sz="1400" b="1" i="0">
                <a:solidFill>
                  <a:srgbClr val="2A9D8F"/>
                </a:solidFill>
                <a:latin typeface="Calibri"/>
              </a:rPr>
              <a:t>KEY FINDINGS</a:t>
            </a:r>
          </a:p>
          <a:p>
            <a:pPr algn="l">
              <a:spcAft>
                <a:spcPts val="900"/>
              </a:spcAft>
            </a:pPr>
            <a:r>
              <a:rPr sz="1600" b="1">
                <a:solidFill>
                  <a:srgbClr val="2A9D8F"/>
                </a:solidFill>
              </a:rPr>
              <a:t>▸  </a:t>
            </a:r>
            <a:r>
              <a:rPr sz="1600" b="0" i="0">
                <a:solidFill>
                  <a:srgbClr val="222A35"/>
                </a:solidFill>
                <a:latin typeface="Calibri"/>
              </a:rPr>
              <a:t>Frost / heat / heavy-rain events detected from weather data.</a:t>
            </a:r>
          </a:p>
          <a:p>
            <a:pPr algn="l">
              <a:spcAft>
                <a:spcPts val="900"/>
              </a:spcAft>
            </a:pPr>
            <a:r>
              <a:rPr sz="1600" b="1">
                <a:solidFill>
                  <a:srgbClr val="2A9D8F"/>
                </a:solidFill>
              </a:rPr>
              <a:t>▸  </a:t>
            </a:r>
            <a:r>
              <a:rPr sz="1600" b="0" i="0">
                <a:solidFill>
                  <a:srgbClr val="222A35"/>
                </a:solidFill>
                <a:latin typeface="Calibri"/>
              </a:rPr>
              <a:t>We measure the lag until wholesale, then retail, prices jump +10%.</a:t>
            </a:r>
          </a:p>
          <a:p>
            <a:pPr algn="l">
              <a:spcAft>
                <a:spcPts val="900"/>
              </a:spcAft>
            </a:pPr>
            <a:r>
              <a:rPr sz="1600" b="1">
                <a:solidFill>
                  <a:srgbClr val="2A9D8F"/>
                </a:solidFill>
              </a:rPr>
              <a:t>▸  </a:t>
            </a:r>
            <a:r>
              <a:rPr sz="1600" b="0" i="0">
                <a:solidFill>
                  <a:srgbClr val="222A35"/>
                </a:solidFill>
                <a:latin typeface="Calibri"/>
              </a:rPr>
              <a:t>Wholesale (hal) reacts first; retail follows with extra delay.</a:t>
            </a:r>
          </a:p>
          <a:p>
            <a:pPr algn="l">
              <a:spcAft>
                <a:spcPts val="900"/>
              </a:spcAft>
            </a:pPr>
            <a:r>
              <a:rPr sz="1600" b="1">
                <a:solidFill>
                  <a:srgbClr val="2A9D8F"/>
                </a:solidFill>
              </a:rPr>
              <a:t>▸  </a:t>
            </a:r>
            <a:r>
              <a:rPr sz="1600" b="0" i="0">
                <a:solidFill>
                  <a:srgbClr val="222A35"/>
                </a:solidFill>
                <a:latin typeface="Calibri"/>
              </a:rPr>
              <a:t>Leafy &amp; fruiting vegetables show the largest peak price jumps.</a:t>
            </a:r>
          </a:p>
        </p:txBody>
      </p:sp>
      <p:sp>
        <p:nvSpPr>
          <p:cNvPr id="9" name="Rounded Rectangle 8"/>
          <p:cNvSpPr/>
          <p:nvPr/>
        </p:nvSpPr>
        <p:spPr>
          <a:xfrm>
            <a:off x="457200" y="5349240"/>
            <a:ext cx="11247120" cy="84124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INSIGHT   Weather shocks reach the shelf with a measurable delay — enabling an early-warning window of several days.</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RESULT 4 OF 6</a:t>
            </a:r>
          </a:p>
          <a:p>
            <a:pPr algn="l">
              <a:spcAft>
                <a:spcPts val="600"/>
              </a:spcAft>
            </a:pPr>
            <a:r>
              <a:rPr sz="2900" b="1" i="0">
                <a:solidFill>
                  <a:srgbClr val="FFFFFF"/>
                </a:solidFill>
                <a:latin typeface="Calibri"/>
              </a:rPr>
              <a:t>Inter-City Price Inequality</a:t>
            </a:r>
          </a:p>
        </p:txBody>
      </p:sp>
      <p:pic>
        <p:nvPicPr>
          <p:cNvPr id="6" name="Picture 5" descr="price_inequality.png"/>
          <p:cNvPicPr>
            <a:picLocks noChangeAspect="1"/>
          </p:cNvPicPr>
          <p:nvPr/>
        </p:nvPicPr>
        <p:blipFill>
          <a:blip r:embed="rId2"/>
          <a:stretch>
            <a:fillRect/>
          </a:stretch>
        </p:blipFill>
        <p:spPr>
          <a:xfrm>
            <a:off x="457200" y="1417320"/>
            <a:ext cx="7040880" cy="3530312"/>
          </a:xfrm>
          <a:prstGeom prst="rect">
            <a:avLst/>
          </a:prstGeom>
        </p:spPr>
      </p:pic>
      <p:sp>
        <p:nvSpPr>
          <p:cNvPr id="7" name="Rounded Rectangle 6"/>
          <p:cNvSpPr/>
          <p:nvPr/>
        </p:nvSpPr>
        <p:spPr>
          <a:xfrm>
            <a:off x="7726679" y="1417320"/>
            <a:ext cx="3977639" cy="37033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600200"/>
            <a:ext cx="3566160" cy="3383280"/>
          </a:xfrm>
          <a:prstGeom prst="rect">
            <a:avLst/>
          </a:prstGeom>
          <a:noFill/>
        </p:spPr>
        <p:txBody>
          <a:bodyPr wrap="square">
            <a:spAutoFit/>
          </a:bodyPr>
          <a:lstStyle/>
          <a:p>
            <a:pPr algn="l">
              <a:spcAft>
                <a:spcPts val="1000"/>
              </a:spcAft>
            </a:pPr>
            <a:r>
              <a:rPr sz="1400" b="1" i="0">
                <a:solidFill>
                  <a:srgbClr val="2A9D8F"/>
                </a:solidFill>
                <a:latin typeface="Calibri"/>
              </a:rPr>
              <a:t>KEY FINDINGS</a:t>
            </a:r>
          </a:p>
          <a:p>
            <a:pPr algn="l">
              <a:spcAft>
                <a:spcPts val="900"/>
              </a:spcAft>
            </a:pPr>
            <a:r>
              <a:rPr sz="1600" b="1">
                <a:solidFill>
                  <a:srgbClr val="2A9D8F"/>
                </a:solidFill>
              </a:rPr>
              <a:t>▸  </a:t>
            </a:r>
            <a:r>
              <a:rPr sz="1600" b="0" i="0">
                <a:solidFill>
                  <a:srgbClr val="222A35"/>
                </a:solidFill>
                <a:latin typeface="Calibri"/>
              </a:rPr>
              <a:t>Same product, 81 provinces — how wide is the price gap?</a:t>
            </a:r>
          </a:p>
          <a:p>
            <a:pPr algn="l">
              <a:spcAft>
                <a:spcPts val="900"/>
              </a:spcAft>
            </a:pPr>
            <a:r>
              <a:rPr sz="1600" b="1">
                <a:solidFill>
                  <a:srgbClr val="2A9D8F"/>
                </a:solidFill>
              </a:rPr>
              <a:t>▸  </a:t>
            </a:r>
            <a:r>
              <a:rPr sz="1600" b="0" i="0">
                <a:solidFill>
                  <a:srgbClr val="222A35"/>
                </a:solidFill>
                <a:latin typeface="Calibri"/>
              </a:rPr>
              <a:t>Spread % = (max − min) / average shelf price across cities.</a:t>
            </a:r>
          </a:p>
          <a:p>
            <a:pPr algn="l">
              <a:spcAft>
                <a:spcPts val="900"/>
              </a:spcAft>
            </a:pPr>
            <a:r>
              <a:rPr sz="1600" b="1">
                <a:solidFill>
                  <a:srgbClr val="2A9D8F"/>
                </a:solidFill>
              </a:rPr>
              <a:t>▸  </a:t>
            </a:r>
            <a:r>
              <a:rPr sz="1600" b="0" i="0">
                <a:solidFill>
                  <a:srgbClr val="222A35"/>
                </a:solidFill>
                <a:latin typeface="Calibri"/>
              </a:rPr>
              <a:t>Top products show a large, persistent gap between the cheapest and the priciest province.</a:t>
            </a:r>
          </a:p>
          <a:p>
            <a:pPr algn="l">
              <a:spcAft>
                <a:spcPts val="900"/>
              </a:spcAft>
            </a:pPr>
            <a:r>
              <a:rPr sz="1600" b="1">
                <a:solidFill>
                  <a:srgbClr val="2A9D8F"/>
                </a:solidFill>
              </a:rPr>
              <a:t>▸  </a:t>
            </a:r>
            <a:r>
              <a:rPr sz="1600" b="0" i="0">
                <a:solidFill>
                  <a:srgbClr val="222A35"/>
                </a:solidFill>
                <a:latin typeface="Calibri"/>
              </a:rPr>
              <a:t>This is the 'spatial speculation' signal made measurable.</a:t>
            </a:r>
          </a:p>
        </p:txBody>
      </p:sp>
      <p:sp>
        <p:nvSpPr>
          <p:cNvPr id="9" name="Rounded Rectangle 8"/>
          <p:cNvSpPr/>
          <p:nvPr/>
        </p:nvSpPr>
        <p:spPr>
          <a:xfrm>
            <a:off x="457200" y="5349240"/>
            <a:ext cx="11247120" cy="84124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INSIGHT   Identical products carry wide price gaps between provinces — far beyond what logistics cost alone can explain.</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RESULT 5 OF 6</a:t>
            </a:r>
          </a:p>
          <a:p>
            <a:pPr algn="l">
              <a:spcAft>
                <a:spcPts val="600"/>
              </a:spcAft>
            </a:pPr>
            <a:r>
              <a:rPr sz="2900" b="1" i="0">
                <a:solidFill>
                  <a:srgbClr val="FFFFFF"/>
                </a:solidFill>
                <a:latin typeface="Calibri"/>
              </a:rPr>
              <a:t>External Drivers — Macro &amp; News</a:t>
            </a:r>
          </a:p>
        </p:txBody>
      </p:sp>
      <p:pic>
        <p:nvPicPr>
          <p:cNvPr id="6" name="Picture 5" descr="macro_corr.png"/>
          <p:cNvPicPr>
            <a:picLocks noChangeAspect="1"/>
          </p:cNvPicPr>
          <p:nvPr/>
        </p:nvPicPr>
        <p:blipFill>
          <a:blip r:embed="rId2"/>
          <a:stretch>
            <a:fillRect/>
          </a:stretch>
        </p:blipFill>
        <p:spPr>
          <a:xfrm>
            <a:off x="457200" y="1417320"/>
            <a:ext cx="7040880" cy="3252327"/>
          </a:xfrm>
          <a:prstGeom prst="rect">
            <a:avLst/>
          </a:prstGeom>
        </p:spPr>
      </p:pic>
      <p:sp>
        <p:nvSpPr>
          <p:cNvPr id="7" name="Rounded Rectangle 6"/>
          <p:cNvSpPr/>
          <p:nvPr/>
        </p:nvSpPr>
        <p:spPr>
          <a:xfrm>
            <a:off x="7726679" y="1417320"/>
            <a:ext cx="3977639" cy="37033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600200"/>
            <a:ext cx="3566160" cy="3383280"/>
          </a:xfrm>
          <a:prstGeom prst="rect">
            <a:avLst/>
          </a:prstGeom>
          <a:noFill/>
        </p:spPr>
        <p:txBody>
          <a:bodyPr wrap="square">
            <a:spAutoFit/>
          </a:bodyPr>
          <a:lstStyle/>
          <a:p>
            <a:pPr algn="l">
              <a:spcAft>
                <a:spcPts val="1000"/>
              </a:spcAft>
            </a:pPr>
            <a:r>
              <a:rPr sz="1400" b="1" i="0">
                <a:solidFill>
                  <a:srgbClr val="2A9D8F"/>
                </a:solidFill>
                <a:latin typeface="Calibri"/>
              </a:rPr>
              <a:t>KEY FINDINGS</a:t>
            </a:r>
          </a:p>
          <a:p>
            <a:pPr algn="l">
              <a:spcAft>
                <a:spcPts val="900"/>
              </a:spcAft>
            </a:pPr>
            <a:r>
              <a:rPr sz="1600" b="1">
                <a:solidFill>
                  <a:srgbClr val="2A9D8F"/>
                </a:solidFill>
              </a:rPr>
              <a:t>▸  </a:t>
            </a:r>
            <a:r>
              <a:rPr sz="1600" b="0" i="0">
                <a:solidFill>
                  <a:srgbClr val="222A35"/>
                </a:solidFill>
                <a:latin typeface="Calibri"/>
              </a:rPr>
              <a:t>Food prices correlated with fuel, FX, commodities &amp; electricity.</a:t>
            </a:r>
          </a:p>
          <a:p>
            <a:pPr algn="l">
              <a:spcAft>
                <a:spcPts val="900"/>
              </a:spcAft>
            </a:pPr>
            <a:r>
              <a:rPr sz="1600" b="1">
                <a:solidFill>
                  <a:srgbClr val="2A9D8F"/>
                </a:solidFill>
              </a:rPr>
              <a:t>▸  </a:t>
            </a:r>
            <a:r>
              <a:rPr sz="1600" b="0" i="0">
                <a:solidFill>
                  <a:srgbClr val="222A35"/>
                </a:solidFill>
                <a:latin typeface="Calibri"/>
              </a:rPr>
              <a:t>Pearson correlation tested at lags of 0–30 days; best lag reported.</a:t>
            </a:r>
          </a:p>
          <a:p>
            <a:pPr algn="l">
              <a:spcAft>
                <a:spcPts val="900"/>
              </a:spcAft>
            </a:pPr>
            <a:r>
              <a:rPr sz="1600" b="1">
                <a:solidFill>
                  <a:srgbClr val="2A9D8F"/>
                </a:solidFill>
              </a:rPr>
              <a:t>▸  </a:t>
            </a:r>
            <a:r>
              <a:rPr sz="1600" b="0" i="0">
                <a:solidFill>
                  <a:srgbClr val="222A35"/>
                </a:solidFill>
                <a:latin typeface="Calibri"/>
              </a:rPr>
              <a:t>GDELT news tone is also tested as a leading indicator of price moves.</a:t>
            </a:r>
          </a:p>
          <a:p>
            <a:pPr algn="l">
              <a:spcAft>
                <a:spcPts val="900"/>
              </a:spcAft>
            </a:pPr>
            <a:r>
              <a:rPr sz="1600" b="1">
                <a:solidFill>
                  <a:srgbClr val="2A9D8F"/>
                </a:solidFill>
              </a:rPr>
              <a:t>▸  </a:t>
            </a:r>
            <a:r>
              <a:rPr sz="1600" b="0" i="0">
                <a:solidFill>
                  <a:srgbClr val="222A35"/>
                </a:solidFill>
                <a:latin typeface="Calibri"/>
              </a:rPr>
              <a:t>Macro factors give context the price data alone cannot.</a:t>
            </a:r>
          </a:p>
        </p:txBody>
      </p:sp>
      <p:sp>
        <p:nvSpPr>
          <p:cNvPr id="9" name="Rounded Rectangle 8"/>
          <p:cNvSpPr/>
          <p:nvPr/>
        </p:nvSpPr>
        <p:spPr>
          <a:xfrm>
            <a:off x="457200" y="5349240"/>
            <a:ext cx="11247120" cy="84124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INSIGHT   Food prices do not move in isolation — fuel, FX and commodity shocks are measurable leading signals.</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RESULT 6 OF 6</a:t>
            </a:r>
          </a:p>
          <a:p>
            <a:pPr algn="l">
              <a:spcAft>
                <a:spcPts val="600"/>
              </a:spcAft>
            </a:pPr>
            <a:r>
              <a:rPr sz="2900" b="1" i="0">
                <a:solidFill>
                  <a:srgbClr val="FFFFFF"/>
                </a:solidFill>
                <a:latin typeface="Calibri"/>
              </a:rPr>
              <a:t>Forecasting with Prophet</a:t>
            </a:r>
          </a:p>
        </p:txBody>
      </p:sp>
      <p:pic>
        <p:nvPicPr>
          <p:cNvPr id="6" name="Picture 5" descr="forecast_domates.png"/>
          <p:cNvPicPr>
            <a:picLocks noChangeAspect="1"/>
          </p:cNvPicPr>
          <p:nvPr/>
        </p:nvPicPr>
        <p:blipFill>
          <a:blip r:embed="rId2"/>
          <a:stretch>
            <a:fillRect/>
          </a:stretch>
        </p:blipFill>
        <p:spPr>
          <a:xfrm>
            <a:off x="457200" y="1417320"/>
            <a:ext cx="7040880" cy="3633112"/>
          </a:xfrm>
          <a:prstGeom prst="rect">
            <a:avLst/>
          </a:prstGeom>
        </p:spPr>
      </p:pic>
      <p:sp>
        <p:nvSpPr>
          <p:cNvPr id="7" name="Rounded Rectangle 6"/>
          <p:cNvSpPr/>
          <p:nvPr/>
        </p:nvSpPr>
        <p:spPr>
          <a:xfrm>
            <a:off x="7726679" y="1417320"/>
            <a:ext cx="3977639" cy="370332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79" y="1600200"/>
            <a:ext cx="3566160" cy="3383280"/>
          </a:xfrm>
          <a:prstGeom prst="rect">
            <a:avLst/>
          </a:prstGeom>
          <a:noFill/>
        </p:spPr>
        <p:txBody>
          <a:bodyPr wrap="square">
            <a:spAutoFit/>
          </a:bodyPr>
          <a:lstStyle/>
          <a:p>
            <a:pPr algn="l">
              <a:spcAft>
                <a:spcPts val="1000"/>
              </a:spcAft>
            </a:pPr>
            <a:r>
              <a:rPr sz="1400" b="1" i="0">
                <a:solidFill>
                  <a:srgbClr val="2A9D8F"/>
                </a:solidFill>
                <a:latin typeface="Calibri"/>
              </a:rPr>
              <a:t>KEY FINDINGS</a:t>
            </a:r>
          </a:p>
          <a:p>
            <a:pPr algn="l">
              <a:spcAft>
                <a:spcPts val="900"/>
              </a:spcAft>
            </a:pPr>
            <a:r>
              <a:rPr sz="1600" b="1">
                <a:solidFill>
                  <a:srgbClr val="2A9D8F"/>
                </a:solidFill>
              </a:rPr>
              <a:t>▸  </a:t>
            </a:r>
            <a:r>
              <a:rPr sz="1600" b="0" i="0">
                <a:solidFill>
                  <a:srgbClr val="222A35"/>
                </a:solidFill>
                <a:latin typeface="Calibri"/>
              </a:rPr>
              <a:t>Tomato price modelled over the full 2016–2026 history.</a:t>
            </a:r>
          </a:p>
          <a:p>
            <a:pPr algn="l">
              <a:spcAft>
                <a:spcPts val="900"/>
              </a:spcAft>
            </a:pPr>
            <a:r>
              <a:rPr sz="1600" b="1">
                <a:solidFill>
                  <a:srgbClr val="2A9D8F"/>
                </a:solidFill>
              </a:rPr>
              <a:t>▸  </a:t>
            </a:r>
            <a:r>
              <a:rPr sz="1600" b="0" i="0">
                <a:solidFill>
                  <a:srgbClr val="222A35"/>
                </a:solidFill>
                <a:latin typeface="Calibri"/>
              </a:rPr>
              <a:t>Prophet captures strong yearly seasonality + the rising trend.</a:t>
            </a:r>
          </a:p>
          <a:p>
            <a:pPr algn="l">
              <a:spcAft>
                <a:spcPts val="900"/>
              </a:spcAft>
            </a:pPr>
            <a:r>
              <a:rPr sz="1600" b="1">
                <a:solidFill>
                  <a:srgbClr val="2A9D8F"/>
                </a:solidFill>
              </a:rPr>
              <a:t>▸  </a:t>
            </a:r>
            <a:r>
              <a:rPr sz="1600" b="0" i="0">
                <a:solidFill>
                  <a:srgbClr val="222A35"/>
                </a:solidFill>
                <a:latin typeface="Calibri"/>
              </a:rPr>
              <a:t>Changepoints flag structural breaks in the trend.</a:t>
            </a:r>
          </a:p>
          <a:p>
            <a:pPr algn="l">
              <a:spcAft>
                <a:spcPts val="900"/>
              </a:spcAft>
            </a:pPr>
            <a:r>
              <a:rPr sz="1600" b="1">
                <a:solidFill>
                  <a:srgbClr val="2A9D8F"/>
                </a:solidFill>
              </a:rPr>
              <a:t>▸  </a:t>
            </a:r>
            <a:r>
              <a:rPr sz="1600" b="0" i="0">
                <a:solidFill>
                  <a:srgbClr val="222A35"/>
                </a:solidFill>
                <a:latin typeface="Calibri"/>
              </a:rPr>
              <a:t>A 30-day forecast is produced with an uncertainty band.</a:t>
            </a:r>
          </a:p>
        </p:txBody>
      </p:sp>
      <p:sp>
        <p:nvSpPr>
          <p:cNvPr id="9" name="Rounded Rectangle 8"/>
          <p:cNvSpPr/>
          <p:nvPr/>
        </p:nvSpPr>
        <p:spPr>
          <a:xfrm>
            <a:off x="457200" y="5349240"/>
            <a:ext cx="11247120" cy="84124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INSIGHT   The pipeline does not just explain the past — it produces a forward-looking 30-day price outlook.</a:t>
            </a:r>
          </a:p>
        </p:txBody>
      </p:sp>
      <p:sp>
        <p:nvSpPr>
          <p:cNvPr id="10" name="TextBox 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1" name="TextBox 1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DID MARGINS WIDEN FOR GOOD?</a:t>
            </a:r>
          </a:p>
          <a:p>
            <a:pPr algn="l">
              <a:spcAft>
                <a:spcPts val="600"/>
              </a:spcAft>
            </a:pPr>
            <a:r>
              <a:rPr sz="2900" b="1" i="0">
                <a:solidFill>
                  <a:srgbClr val="FFFFFF"/>
                </a:solidFill>
                <a:latin typeface="Calibri"/>
              </a:rPr>
              <a:t>Pandemic Gap Analysis</a:t>
            </a:r>
          </a:p>
        </p:txBody>
      </p:sp>
      <p:sp>
        <p:nvSpPr>
          <p:cNvPr id="6" name="TextBox 5"/>
          <p:cNvSpPr txBox="1"/>
          <p:nvPr/>
        </p:nvSpPr>
        <p:spPr>
          <a:xfrm>
            <a:off x="640080" y="1280160"/>
            <a:ext cx="11155680" cy="868680"/>
          </a:xfrm>
          <a:prstGeom prst="rect">
            <a:avLst/>
          </a:prstGeom>
          <a:noFill/>
        </p:spPr>
        <p:txBody>
          <a:bodyPr wrap="square">
            <a:spAutoFit/>
          </a:bodyPr>
          <a:lstStyle/>
          <a:p>
            <a:pPr algn="l">
              <a:spcAft>
                <a:spcPts val="600"/>
              </a:spcAft>
            </a:pPr>
            <a:r>
              <a:rPr sz="1700" b="1" i="0">
                <a:solidFill>
                  <a:srgbClr val="222A35"/>
                </a:solidFill>
                <a:latin typeface="Calibri"/>
              </a:rPr>
              <a:t>Research question: did the hal→retail margin widen permanently after the 2020 pandemic, instead of reverting to its pre-2020 level?</a:t>
            </a:r>
          </a:p>
        </p:txBody>
      </p:sp>
      <p:sp>
        <p:nvSpPr>
          <p:cNvPr id="7" name="Rounded Rectangle 6"/>
          <p:cNvSpPr/>
          <p:nvPr/>
        </p:nvSpPr>
        <p:spPr>
          <a:xfrm>
            <a:off x="1280160" y="2377440"/>
            <a:ext cx="2926080" cy="109728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500" b="1" i="0">
                <a:solidFill>
                  <a:srgbClr val="FFFFFF"/>
                </a:solidFill>
                <a:latin typeface="Calibri"/>
              </a:rPr>
              <a:t>2019 baseline
pre-pandemic margin</a:t>
            </a:r>
          </a:p>
        </p:txBody>
      </p:sp>
      <p:sp>
        <p:nvSpPr>
          <p:cNvPr id="8" name="Chevron 7"/>
          <p:cNvSpPr/>
          <p:nvPr/>
        </p:nvSpPr>
        <p:spPr>
          <a:xfrm>
            <a:off x="4434840" y="2697480"/>
            <a:ext cx="457200" cy="292608"/>
          </a:xfrm>
          <a:prstGeom prst="chevron">
            <a:avLst/>
          </a:prstGeom>
          <a:solidFill>
            <a:srgbClr val="5B66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120640" y="2377440"/>
            <a:ext cx="2926080" cy="109728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500" b="1" i="0">
                <a:solidFill>
                  <a:srgbClr val="FFFFFF"/>
                </a:solidFill>
                <a:latin typeface="Calibri"/>
              </a:rPr>
              <a:t>2021–2024
post-pandemic margin</a:t>
            </a:r>
          </a:p>
        </p:txBody>
      </p:sp>
      <p:sp>
        <p:nvSpPr>
          <p:cNvPr id="10" name="TextBox 9"/>
          <p:cNvSpPr txBox="1"/>
          <p:nvPr/>
        </p:nvSpPr>
        <p:spPr>
          <a:xfrm>
            <a:off x="8321040" y="2514600"/>
            <a:ext cx="3291840" cy="914400"/>
          </a:xfrm>
          <a:prstGeom prst="rect">
            <a:avLst/>
          </a:prstGeom>
          <a:noFill/>
        </p:spPr>
        <p:txBody>
          <a:bodyPr wrap="square">
            <a:spAutoFit/>
          </a:bodyPr>
          <a:lstStyle/>
          <a:p>
            <a:pPr algn="l">
              <a:spcAft>
                <a:spcPts val="600"/>
              </a:spcAft>
            </a:pPr>
            <a:r>
              <a:rPr sz="1500" b="1" i="0">
                <a:solidFill>
                  <a:srgbClr val="1B2A4A"/>
                </a:solidFill>
                <a:latin typeface="Calibri"/>
              </a:rPr>
              <a:t>gap_widening_% =</a:t>
            </a:r>
          </a:p>
          <a:p>
            <a:pPr algn="l">
              <a:spcAft>
                <a:spcPts val="600"/>
              </a:spcAft>
            </a:pPr>
            <a:r>
              <a:rPr sz="1400" b="0" i="0">
                <a:solidFill>
                  <a:srgbClr val="5B6677"/>
                </a:solidFill>
                <a:latin typeface="Calibri"/>
              </a:rPr>
              <a:t>(post − baseline) / baseline</a:t>
            </a:r>
          </a:p>
        </p:txBody>
      </p:sp>
      <p:sp>
        <p:nvSpPr>
          <p:cNvPr id="11" name="TextBox 10"/>
          <p:cNvSpPr txBox="1"/>
          <p:nvPr/>
        </p:nvSpPr>
        <p:spPr>
          <a:xfrm>
            <a:off x="640080" y="3794760"/>
            <a:ext cx="11064240" cy="2286000"/>
          </a:xfrm>
          <a:prstGeom prst="rect">
            <a:avLst/>
          </a:prstGeom>
          <a:noFill/>
        </p:spPr>
        <p:txBody>
          <a:bodyPr wrap="square">
            <a:spAutoFit/>
          </a:bodyPr>
          <a:lstStyle/>
          <a:p>
            <a:pPr algn="l">
              <a:spcAft>
                <a:spcPts val="900"/>
              </a:spcAft>
            </a:pPr>
            <a:r>
              <a:rPr sz="1500" b="1" i="0">
                <a:solidFill>
                  <a:srgbClr val="1B2A4A"/>
                </a:solidFill>
                <a:latin typeface="Calibri"/>
              </a:rPr>
              <a:t>Method</a:t>
            </a:r>
          </a:p>
          <a:p>
            <a:pPr algn="l">
              <a:spcAft>
                <a:spcPts val="900"/>
              </a:spcAft>
            </a:pPr>
            <a:r>
              <a:rPr sz="1500" b="1">
                <a:solidFill>
                  <a:srgbClr val="2A9D8F"/>
                </a:solidFill>
              </a:rPr>
              <a:t>▸  </a:t>
            </a:r>
            <a:r>
              <a:rPr sz="1500" b="0" i="0">
                <a:solidFill>
                  <a:srgbClr val="222A35"/>
                </a:solidFill>
                <a:latin typeface="Calibri"/>
              </a:rPr>
              <a:t>pandemic_gap.py compares each product/chain's 2019 average margin to its 2021–2024 average → gap-widening percentage.</a:t>
            </a:r>
          </a:p>
          <a:p>
            <a:pPr algn="l">
              <a:spcAft>
                <a:spcPts val="900"/>
              </a:spcAft>
            </a:pPr>
            <a:r>
              <a:rPr sz="1500" b="1" i="0">
                <a:solidFill>
                  <a:srgbClr val="1B2A4A"/>
                </a:solidFill>
                <a:latin typeface="Calibri"/>
              </a:rPr>
              <a:t>Status</a:t>
            </a:r>
          </a:p>
          <a:p>
            <a:pPr algn="l">
              <a:spcAft>
                <a:spcPts val="900"/>
              </a:spcAft>
            </a:pPr>
            <a:r>
              <a:rPr sz="1500" b="1">
                <a:solidFill>
                  <a:srgbClr val="2A9D8F"/>
                </a:solidFill>
              </a:rPr>
              <a:t>▸  </a:t>
            </a:r>
            <a:r>
              <a:rPr sz="1500" b="0" i="0">
                <a:solidFill>
                  <a:srgbClr val="222A35"/>
                </a:solidFill>
                <a:latin typeface="Calibri"/>
              </a:rPr>
              <a:t>Requires the full 2016–2026 backfill (the 1-year EMR demo subset has no 2019 baseline); the full-history run is being computed now.</a:t>
            </a:r>
          </a:p>
          <a:p>
            <a:pPr algn="l" lvl="1">
              <a:spcAft>
                <a:spcPts val="600"/>
              </a:spcAft>
            </a:pPr>
            <a:r>
              <a:rPr sz="1100" b="1">
                <a:solidFill>
                  <a:srgbClr val="2A9D8F"/>
                </a:solidFill>
              </a:rPr>
              <a:t>–  </a:t>
            </a:r>
            <a:r>
              <a:rPr sz="1100" b="0" i="0">
                <a:solidFill>
                  <a:srgbClr val="5B6677"/>
                </a:solidFill>
                <a:latin typeface="Calibri"/>
              </a:rPr>
              <a:t>Result panel — to be populated from the full-backfill run.</a:t>
            </a:r>
          </a:p>
        </p:txBody>
      </p:sp>
      <p:sp>
        <p:nvSpPr>
          <p:cNvPr id="12" name="Rounded Rectangle 11"/>
          <p:cNvSpPr/>
          <p:nvPr/>
        </p:nvSpPr>
        <p:spPr>
          <a:xfrm>
            <a:off x="640080" y="5486400"/>
            <a:ext cx="10908792" cy="713232"/>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400" b="1" i="1">
                <a:solidFill>
                  <a:srgbClr val="5B6677"/>
                </a:solidFill>
                <a:latin typeface="Calibri"/>
              </a:rPr>
              <a:t>[ Pandemic gap result — figure &amp; numbers to be inserted from the full-backfill run ]</a:t>
            </a:r>
          </a:p>
        </p:txBody>
      </p:sp>
      <p:sp>
        <p:nvSpPr>
          <p:cNvPr id="13" name="TextBox 12"/>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4" name="TextBox 13"/>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ELASTICSEARCH + KIBANA</a:t>
            </a:r>
          </a:p>
          <a:p>
            <a:pPr algn="l">
              <a:spcAft>
                <a:spcPts val="600"/>
              </a:spcAft>
            </a:pPr>
            <a:r>
              <a:rPr sz="2900" b="1" i="0">
                <a:solidFill>
                  <a:srgbClr val="FFFFFF"/>
                </a:solidFill>
                <a:latin typeface="Calibri"/>
              </a:rPr>
              <a:t>Dashboards</a:t>
            </a:r>
          </a:p>
        </p:txBody>
      </p:sp>
      <p:sp>
        <p:nvSpPr>
          <p:cNvPr id="6" name="TextBox 5"/>
          <p:cNvSpPr txBox="1"/>
          <p:nvPr/>
        </p:nvSpPr>
        <p:spPr>
          <a:xfrm>
            <a:off x="640080" y="1280160"/>
            <a:ext cx="11155680" cy="548640"/>
          </a:xfrm>
          <a:prstGeom prst="rect">
            <a:avLst/>
          </a:prstGeom>
          <a:noFill/>
        </p:spPr>
        <p:txBody>
          <a:bodyPr wrap="square">
            <a:spAutoFit/>
          </a:bodyPr>
          <a:lstStyle/>
          <a:p>
            <a:pPr algn="l">
              <a:spcAft>
                <a:spcPts val="600"/>
              </a:spcAft>
            </a:pPr>
            <a:r>
              <a:rPr sz="1600" b="1" i="0">
                <a:solidFill>
                  <a:srgbClr val="222A35"/>
                </a:solidFill>
                <a:latin typeface="Calibri"/>
              </a:rPr>
              <a:t>Gold tables are indexed into Elasticsearch and explored through Kibana — interactive, not static (ELK instead of Athena).</a:t>
            </a:r>
          </a:p>
        </p:txBody>
      </p:sp>
      <p:sp>
        <p:nvSpPr>
          <p:cNvPr id="7" name="Rounded Rectangle 6"/>
          <p:cNvSpPr/>
          <p:nvPr/>
        </p:nvSpPr>
        <p:spPr>
          <a:xfrm>
            <a:off x="640080" y="2057400"/>
            <a:ext cx="2615184" cy="214884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0080" y="2057400"/>
            <a:ext cx="2615184" cy="6400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Calibri"/>
              </a:rPr>
              <a:t>Margin Map</a:t>
            </a:r>
          </a:p>
        </p:txBody>
      </p:sp>
      <p:sp>
        <p:nvSpPr>
          <p:cNvPr id="9" name="TextBox 8"/>
          <p:cNvSpPr txBox="1"/>
          <p:nvPr/>
        </p:nvSpPr>
        <p:spPr>
          <a:xfrm>
            <a:off x="822959" y="2880360"/>
            <a:ext cx="2286000" cy="1188720"/>
          </a:xfrm>
          <a:prstGeom prst="rect">
            <a:avLst/>
          </a:prstGeom>
          <a:noFill/>
        </p:spPr>
        <p:txBody>
          <a:bodyPr wrap="square">
            <a:spAutoFit/>
          </a:bodyPr>
          <a:lstStyle/>
          <a:p>
            <a:pPr algn="ctr">
              <a:spcAft>
                <a:spcPts val="600"/>
              </a:spcAft>
            </a:pPr>
            <a:r>
              <a:rPr sz="1350" b="0" i="0">
                <a:solidFill>
                  <a:srgbClr val="222A35"/>
                </a:solidFill>
                <a:latin typeface="Calibri"/>
              </a:rPr>
              <a:t>Province-level hal→retail margin heat view of Türkiye</a:t>
            </a:r>
          </a:p>
        </p:txBody>
      </p:sp>
      <p:sp>
        <p:nvSpPr>
          <p:cNvPr id="10" name="Rounded Rectangle 9"/>
          <p:cNvSpPr/>
          <p:nvPr/>
        </p:nvSpPr>
        <p:spPr>
          <a:xfrm>
            <a:off x="3419856" y="2057400"/>
            <a:ext cx="2615184" cy="214884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19856" y="2057400"/>
            <a:ext cx="2615184" cy="6400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Calibri"/>
              </a:rPr>
              <a:t>Asymmetry Board</a:t>
            </a:r>
          </a:p>
        </p:txBody>
      </p:sp>
      <p:sp>
        <p:nvSpPr>
          <p:cNvPr id="12" name="TextBox 11"/>
          <p:cNvSpPr txBox="1"/>
          <p:nvPr/>
        </p:nvSpPr>
        <p:spPr>
          <a:xfrm>
            <a:off x="3602736" y="2880360"/>
            <a:ext cx="2286000" cy="1188720"/>
          </a:xfrm>
          <a:prstGeom prst="rect">
            <a:avLst/>
          </a:prstGeom>
          <a:noFill/>
        </p:spPr>
        <p:txBody>
          <a:bodyPr wrap="square">
            <a:spAutoFit/>
          </a:bodyPr>
          <a:lstStyle/>
          <a:p>
            <a:pPr algn="ctr">
              <a:spcAft>
                <a:spcPts val="600"/>
              </a:spcAft>
            </a:pPr>
            <a:r>
              <a:rPr sz="1350" b="0" i="0">
                <a:solidFill>
                  <a:srgbClr val="222A35"/>
                </a:solidFill>
                <a:latin typeface="Calibri"/>
              </a:rPr>
              <a:t>Rockets &amp; Feathers scores per product &amp; chain</a:t>
            </a:r>
          </a:p>
        </p:txBody>
      </p:sp>
      <p:sp>
        <p:nvSpPr>
          <p:cNvPr id="13" name="Rounded Rectangle 12"/>
          <p:cNvSpPr/>
          <p:nvPr/>
        </p:nvSpPr>
        <p:spPr>
          <a:xfrm>
            <a:off x="6199632" y="2057400"/>
            <a:ext cx="2615184" cy="214884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199632" y="2057400"/>
            <a:ext cx="2615184" cy="6400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Calibri"/>
              </a:rPr>
              <a:t>Shock Timeline</a:t>
            </a:r>
          </a:p>
        </p:txBody>
      </p:sp>
      <p:sp>
        <p:nvSpPr>
          <p:cNvPr id="15" name="TextBox 14"/>
          <p:cNvSpPr txBox="1"/>
          <p:nvPr/>
        </p:nvSpPr>
        <p:spPr>
          <a:xfrm>
            <a:off x="6382512" y="2880360"/>
            <a:ext cx="2286000" cy="1188720"/>
          </a:xfrm>
          <a:prstGeom prst="rect">
            <a:avLst/>
          </a:prstGeom>
          <a:noFill/>
        </p:spPr>
        <p:txBody>
          <a:bodyPr wrap="square">
            <a:spAutoFit/>
          </a:bodyPr>
          <a:lstStyle/>
          <a:p>
            <a:pPr algn="ctr">
              <a:spcAft>
                <a:spcPts val="600"/>
              </a:spcAft>
            </a:pPr>
            <a:r>
              <a:rPr sz="1350" b="0" i="0">
                <a:solidFill>
                  <a:srgbClr val="222A35"/>
                </a:solidFill>
                <a:latin typeface="Calibri"/>
              </a:rPr>
              <a:t>Weather/news events overlaid on price series</a:t>
            </a:r>
          </a:p>
        </p:txBody>
      </p:sp>
      <p:sp>
        <p:nvSpPr>
          <p:cNvPr id="16" name="Rounded Rectangle 15"/>
          <p:cNvSpPr/>
          <p:nvPr/>
        </p:nvSpPr>
        <p:spPr>
          <a:xfrm>
            <a:off x="8979408" y="2057400"/>
            <a:ext cx="2615184" cy="214884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979408" y="2057400"/>
            <a:ext cx="2615184" cy="64008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500" b="1" i="0">
                <a:solidFill>
                  <a:srgbClr val="FFFFFF"/>
                </a:solidFill>
                <a:latin typeface="Calibri"/>
              </a:rPr>
              <a:t>Forecast View</a:t>
            </a:r>
          </a:p>
        </p:txBody>
      </p:sp>
      <p:sp>
        <p:nvSpPr>
          <p:cNvPr id="18" name="TextBox 17"/>
          <p:cNvSpPr txBox="1"/>
          <p:nvPr/>
        </p:nvSpPr>
        <p:spPr>
          <a:xfrm>
            <a:off x="9162288" y="2880360"/>
            <a:ext cx="2286000" cy="1188720"/>
          </a:xfrm>
          <a:prstGeom prst="rect">
            <a:avLst/>
          </a:prstGeom>
          <a:noFill/>
        </p:spPr>
        <p:txBody>
          <a:bodyPr wrap="square">
            <a:spAutoFit/>
          </a:bodyPr>
          <a:lstStyle/>
          <a:p>
            <a:pPr algn="ctr">
              <a:spcAft>
                <a:spcPts val="600"/>
              </a:spcAft>
            </a:pPr>
            <a:r>
              <a:rPr sz="1350" b="0" i="0">
                <a:solidFill>
                  <a:srgbClr val="222A35"/>
                </a:solidFill>
                <a:latin typeface="Calibri"/>
              </a:rPr>
              <a:t>Prophet outlook with seasonality &amp; changepoints</a:t>
            </a:r>
          </a:p>
        </p:txBody>
      </p:sp>
      <p:sp>
        <p:nvSpPr>
          <p:cNvPr id="19" name="Rounded Rectangle 18"/>
          <p:cNvSpPr/>
          <p:nvPr/>
        </p:nvSpPr>
        <p:spPr>
          <a:xfrm>
            <a:off x="640080" y="4572000"/>
            <a:ext cx="10908792" cy="13716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600" b="1" i="0">
                <a:solidFill>
                  <a:srgbClr val="FFFFFF"/>
                </a:solidFill>
                <a:latin typeface="Calibri"/>
              </a:rPr>
              <a:t>The dashboard set grows as new analyses land — Kibana lets a regulator drill from a national map down to a single product-city-day in seconds.</a:t>
            </a:r>
          </a:p>
        </p:txBody>
      </p:sp>
      <p:sp>
        <p:nvSpPr>
          <p:cNvPr id="20" name="TextBox 19"/>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21" name="TextBox 20"/>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WHO BENEFITS</a:t>
            </a:r>
          </a:p>
          <a:p>
            <a:pPr algn="l">
              <a:spcAft>
                <a:spcPts val="600"/>
              </a:spcAft>
            </a:pPr>
            <a:r>
              <a:rPr sz="2900" b="1" i="0">
                <a:solidFill>
                  <a:srgbClr val="FFFFFF"/>
                </a:solidFill>
                <a:latin typeface="Calibri"/>
              </a:rPr>
              <a:t>Business &amp; Strategic Value</a:t>
            </a:r>
          </a:p>
        </p:txBody>
      </p:sp>
      <p:sp>
        <p:nvSpPr>
          <p:cNvPr id="6" name="Rounded Rectangle 5"/>
          <p:cNvSpPr/>
          <p:nvPr/>
        </p:nvSpPr>
        <p:spPr>
          <a:xfrm>
            <a:off x="640080" y="1554480"/>
            <a:ext cx="10908792" cy="13716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554480"/>
            <a:ext cx="2743200" cy="1371600"/>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1" i="0">
                <a:solidFill>
                  <a:srgbClr val="FFFFFF"/>
                </a:solidFill>
                <a:latin typeface="Calibri"/>
              </a:rPr>
              <a:t>Regulators</a:t>
            </a:r>
          </a:p>
        </p:txBody>
      </p:sp>
      <p:sp>
        <p:nvSpPr>
          <p:cNvPr id="8" name="TextBox 7"/>
          <p:cNvSpPr txBox="1"/>
          <p:nvPr/>
        </p:nvSpPr>
        <p:spPr>
          <a:xfrm>
            <a:off x="3657600" y="1719072"/>
            <a:ext cx="7680960" cy="1097280"/>
          </a:xfrm>
          <a:prstGeom prst="rect">
            <a:avLst/>
          </a:prstGeom>
          <a:noFill/>
        </p:spPr>
        <p:txBody>
          <a:bodyPr wrap="square" anchor="ctr">
            <a:spAutoFit/>
          </a:bodyPr>
          <a:lstStyle/>
          <a:p>
            <a:pPr algn="l">
              <a:spcAft>
                <a:spcPts val="600"/>
              </a:spcAft>
            </a:pPr>
            <a:r>
              <a:rPr sz="1500" b="0" i="0">
                <a:solidFill>
                  <a:srgbClr val="222A35"/>
                </a:solidFill>
                <a:latin typeface="Calibri"/>
              </a:rPr>
              <a:t>Competition Authority &amp; Ministry of Trade get real-data evidence of unfair pricing — asymmetry scores and margin outliers become actionable enforcement signals.</a:t>
            </a:r>
          </a:p>
        </p:txBody>
      </p:sp>
      <p:sp>
        <p:nvSpPr>
          <p:cNvPr id="9" name="Rounded Rectangle 8"/>
          <p:cNvSpPr/>
          <p:nvPr/>
        </p:nvSpPr>
        <p:spPr>
          <a:xfrm>
            <a:off x="640080" y="3081528"/>
            <a:ext cx="10908792" cy="13716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3081528"/>
            <a:ext cx="2743200" cy="1371600"/>
          </a:xfrm>
          <a:prstGeom prst="round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1" i="0">
                <a:solidFill>
                  <a:srgbClr val="FFFFFF"/>
                </a:solidFill>
                <a:latin typeface="Calibri"/>
              </a:rPr>
              <a:t>Consumers &amp; Society</a:t>
            </a:r>
          </a:p>
        </p:txBody>
      </p:sp>
      <p:sp>
        <p:nvSpPr>
          <p:cNvPr id="11" name="TextBox 10"/>
          <p:cNvSpPr txBox="1"/>
          <p:nvPr/>
        </p:nvSpPr>
        <p:spPr>
          <a:xfrm>
            <a:off x="3657600" y="3246120"/>
            <a:ext cx="7680960" cy="1097280"/>
          </a:xfrm>
          <a:prstGeom prst="rect">
            <a:avLst/>
          </a:prstGeom>
          <a:noFill/>
        </p:spPr>
        <p:txBody>
          <a:bodyPr wrap="square" anchor="ctr">
            <a:spAutoFit/>
          </a:bodyPr>
          <a:lstStyle/>
          <a:p>
            <a:pPr algn="l">
              <a:spcAft>
                <a:spcPts val="600"/>
              </a:spcAft>
            </a:pPr>
            <a:r>
              <a:rPr sz="1500" b="0" i="0">
                <a:solidFill>
                  <a:srgbClr val="222A35"/>
                </a:solidFill>
                <a:latin typeface="Calibri"/>
              </a:rPr>
              <a:t>Transparency on where the margin actually sits demystifies food inflation and counters speculative pricing psychology.</a:t>
            </a:r>
          </a:p>
        </p:txBody>
      </p:sp>
      <p:sp>
        <p:nvSpPr>
          <p:cNvPr id="12" name="Rounded Rectangle 11"/>
          <p:cNvSpPr/>
          <p:nvPr/>
        </p:nvSpPr>
        <p:spPr>
          <a:xfrm>
            <a:off x="640080" y="4608576"/>
            <a:ext cx="10908792" cy="137160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 y="4608576"/>
            <a:ext cx="2743200" cy="1371600"/>
          </a:xfrm>
          <a:prstGeom prst="round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pPr>
            <a:r>
              <a:rPr sz="1800" b="1" i="0">
                <a:solidFill>
                  <a:srgbClr val="FFFFFF"/>
                </a:solidFill>
                <a:latin typeface="Calibri"/>
              </a:rPr>
              <a:t>Economic Strategy</a:t>
            </a:r>
          </a:p>
        </p:txBody>
      </p:sp>
      <p:sp>
        <p:nvSpPr>
          <p:cNvPr id="14" name="TextBox 13"/>
          <p:cNvSpPr txBox="1"/>
          <p:nvPr/>
        </p:nvSpPr>
        <p:spPr>
          <a:xfrm>
            <a:off x="3657600" y="4773168"/>
            <a:ext cx="7680960" cy="1097280"/>
          </a:xfrm>
          <a:prstGeom prst="rect">
            <a:avLst/>
          </a:prstGeom>
          <a:noFill/>
        </p:spPr>
        <p:txBody>
          <a:bodyPr wrap="square" anchor="ctr">
            <a:spAutoFit/>
          </a:bodyPr>
          <a:lstStyle/>
          <a:p>
            <a:pPr algn="l">
              <a:spcAft>
                <a:spcPts val="600"/>
              </a:spcAft>
            </a:pPr>
            <a:r>
              <a:rPr sz="1500" b="0" i="0">
                <a:solidFill>
                  <a:srgbClr val="222A35"/>
                </a:solidFill>
                <a:latin typeface="Calibri"/>
              </a:rPr>
              <a:t>Pinpoints provinces with logistics-cost problems and chains that exploit asymmetric transmission — input for targeted policy.</a:t>
            </a:r>
          </a:p>
        </p:txBody>
      </p:sp>
      <p:sp>
        <p:nvSpPr>
          <p:cNvPr id="15" name="TextBox 14"/>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6" name="TextBox 15"/>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64008"/>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54864"/>
            <a:ext cx="10058400" cy="1024128"/>
          </a:xfrm>
          <a:prstGeom prst="rect">
            <a:avLst/>
          </a:prstGeom>
          <a:noFill/>
        </p:spPr>
        <p:txBody>
          <a:bodyPr wrap="square" anchor="ctr">
            <a:spAutoFit/>
          </a:bodyPr>
          <a:lstStyle/>
          <a:p>
            <a:pPr algn="l">
              <a:spcAft>
                <a:spcPts val="200"/>
              </a:spcAft>
            </a:pPr>
            <a:r>
              <a:rPr sz="1300" b="1" i="0">
                <a:solidFill>
                  <a:srgbClr val="E9C46A"/>
                </a:solidFill>
                <a:latin typeface="Calibri"/>
              </a:rPr>
              <a:t>WHERE WE GO NEXT</a:t>
            </a:r>
          </a:p>
          <a:p>
            <a:pPr algn="l">
              <a:spcAft>
                <a:spcPts val="600"/>
              </a:spcAft>
            </a:pPr>
            <a:r>
              <a:rPr sz="2900" b="1" i="0">
                <a:solidFill>
                  <a:srgbClr val="FFFFFF"/>
                </a:solidFill>
                <a:latin typeface="Calibri"/>
              </a:rPr>
              <a:t>Roadmap &amp; Future Work</a:t>
            </a:r>
          </a:p>
        </p:txBody>
      </p:sp>
      <p:sp>
        <p:nvSpPr>
          <p:cNvPr id="6" name="Rounded Rectangle 5"/>
          <p:cNvSpPr/>
          <p:nvPr/>
        </p:nvSpPr>
        <p:spPr>
          <a:xfrm>
            <a:off x="640080" y="1508760"/>
            <a:ext cx="5349240" cy="132588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804671" y="1673351"/>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600" b="1" i="0">
                <a:solidFill>
                  <a:srgbClr val="FFFFFF"/>
                </a:solidFill>
                <a:latin typeface="Calibri"/>
              </a:rPr>
              <a:t>1</a:t>
            </a:r>
          </a:p>
        </p:txBody>
      </p:sp>
      <p:sp>
        <p:nvSpPr>
          <p:cNvPr id="8" name="TextBox 7"/>
          <p:cNvSpPr txBox="1"/>
          <p:nvPr/>
        </p:nvSpPr>
        <p:spPr>
          <a:xfrm>
            <a:off x="1508760" y="1627631"/>
            <a:ext cx="4343400" cy="1143000"/>
          </a:xfrm>
          <a:prstGeom prst="rect">
            <a:avLst/>
          </a:prstGeom>
          <a:noFill/>
        </p:spPr>
        <p:txBody>
          <a:bodyPr wrap="square">
            <a:spAutoFit/>
          </a:bodyPr>
          <a:lstStyle/>
          <a:p>
            <a:pPr algn="l">
              <a:spcAft>
                <a:spcPts val="300"/>
              </a:spcAft>
            </a:pPr>
            <a:r>
              <a:rPr sz="1500" b="1" i="0">
                <a:solidFill>
                  <a:srgbClr val="1B2A4A"/>
                </a:solidFill>
                <a:latin typeface="Calibri"/>
              </a:rPr>
              <a:t>Full backfill</a:t>
            </a:r>
          </a:p>
          <a:p>
            <a:pPr algn="l">
              <a:spcAft>
                <a:spcPts val="600"/>
              </a:spcAft>
            </a:pPr>
            <a:r>
              <a:rPr sz="1250" b="0" i="0">
                <a:solidFill>
                  <a:srgbClr val="222A35"/>
                </a:solidFill>
                <a:latin typeface="Calibri"/>
              </a:rPr>
              <a:t>Run the complete 2016–2026 history on EMR — unlocking the pandemic-gap result at full scale.</a:t>
            </a:r>
          </a:p>
        </p:txBody>
      </p:sp>
      <p:sp>
        <p:nvSpPr>
          <p:cNvPr id="9" name="Rounded Rectangle 8"/>
          <p:cNvSpPr/>
          <p:nvPr/>
        </p:nvSpPr>
        <p:spPr>
          <a:xfrm>
            <a:off x="6217920" y="1508760"/>
            <a:ext cx="5349240" cy="132588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382512" y="1673351"/>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600" b="1" i="0">
                <a:solidFill>
                  <a:srgbClr val="FFFFFF"/>
                </a:solidFill>
                <a:latin typeface="Calibri"/>
              </a:rPr>
              <a:t>2</a:t>
            </a:r>
          </a:p>
        </p:txBody>
      </p:sp>
      <p:sp>
        <p:nvSpPr>
          <p:cNvPr id="11" name="TextBox 10"/>
          <p:cNvSpPr txBox="1"/>
          <p:nvPr/>
        </p:nvSpPr>
        <p:spPr>
          <a:xfrm>
            <a:off x="7086600" y="1627631"/>
            <a:ext cx="4343400" cy="1143000"/>
          </a:xfrm>
          <a:prstGeom prst="rect">
            <a:avLst/>
          </a:prstGeom>
          <a:noFill/>
        </p:spPr>
        <p:txBody>
          <a:bodyPr wrap="square">
            <a:spAutoFit/>
          </a:bodyPr>
          <a:lstStyle/>
          <a:p>
            <a:pPr algn="l">
              <a:spcAft>
                <a:spcPts val="300"/>
              </a:spcAft>
            </a:pPr>
            <a:r>
              <a:rPr sz="1500" b="1" i="0">
                <a:solidFill>
                  <a:srgbClr val="1B2A4A"/>
                </a:solidFill>
                <a:latin typeface="Calibri"/>
              </a:rPr>
              <a:t>ML models</a:t>
            </a:r>
          </a:p>
          <a:p>
            <a:pPr algn="l">
              <a:spcAft>
                <a:spcPts val="600"/>
              </a:spcAft>
            </a:pPr>
            <a:r>
              <a:rPr sz="1250" b="0" i="0">
                <a:solidFill>
                  <a:srgbClr val="222A35"/>
                </a:solidFill>
                <a:latin typeface="Calibri"/>
              </a:rPr>
              <a:t>Add XGBoost &amp; LSTM price models alongside Prophet for richer multi-feature forecasting.</a:t>
            </a:r>
          </a:p>
        </p:txBody>
      </p:sp>
      <p:sp>
        <p:nvSpPr>
          <p:cNvPr id="12" name="Rounded Rectangle 11"/>
          <p:cNvSpPr/>
          <p:nvPr/>
        </p:nvSpPr>
        <p:spPr>
          <a:xfrm>
            <a:off x="640080" y="2990088"/>
            <a:ext cx="5349240" cy="132588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04671" y="315468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600" b="1" i="0">
                <a:solidFill>
                  <a:srgbClr val="FFFFFF"/>
                </a:solidFill>
                <a:latin typeface="Calibri"/>
              </a:rPr>
              <a:t>3</a:t>
            </a:r>
          </a:p>
        </p:txBody>
      </p:sp>
      <p:sp>
        <p:nvSpPr>
          <p:cNvPr id="14" name="TextBox 13"/>
          <p:cNvSpPr txBox="1"/>
          <p:nvPr/>
        </p:nvSpPr>
        <p:spPr>
          <a:xfrm>
            <a:off x="1508760" y="3108960"/>
            <a:ext cx="4343400" cy="1143000"/>
          </a:xfrm>
          <a:prstGeom prst="rect">
            <a:avLst/>
          </a:prstGeom>
          <a:noFill/>
        </p:spPr>
        <p:txBody>
          <a:bodyPr wrap="square">
            <a:spAutoFit/>
          </a:bodyPr>
          <a:lstStyle/>
          <a:p>
            <a:pPr algn="l">
              <a:spcAft>
                <a:spcPts val="300"/>
              </a:spcAft>
            </a:pPr>
            <a:r>
              <a:rPr sz="1500" b="1" i="0">
                <a:solidFill>
                  <a:srgbClr val="1B2A4A"/>
                </a:solidFill>
                <a:latin typeface="Calibri"/>
              </a:rPr>
              <a:t>Satellite signal</a:t>
            </a:r>
          </a:p>
          <a:p>
            <a:pPr algn="l">
              <a:spcAft>
                <a:spcPts val="600"/>
              </a:spcAft>
            </a:pPr>
            <a:r>
              <a:rPr sz="1250" b="0" i="0">
                <a:solidFill>
                  <a:srgbClr val="222A35"/>
                </a:solidFill>
                <a:latin typeface="Calibri"/>
              </a:rPr>
              <a:t>Fuse Sentinel-2 NDVI crop-health data to detect supply shocks before they reach the hal.</a:t>
            </a:r>
          </a:p>
        </p:txBody>
      </p:sp>
      <p:sp>
        <p:nvSpPr>
          <p:cNvPr id="15" name="Rounded Rectangle 14"/>
          <p:cNvSpPr/>
          <p:nvPr/>
        </p:nvSpPr>
        <p:spPr>
          <a:xfrm>
            <a:off x="6217920" y="2990088"/>
            <a:ext cx="5349240" cy="132588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382512" y="3154680"/>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600" b="1" i="0">
                <a:solidFill>
                  <a:srgbClr val="FFFFFF"/>
                </a:solidFill>
                <a:latin typeface="Calibri"/>
              </a:rPr>
              <a:t>4</a:t>
            </a:r>
          </a:p>
        </p:txBody>
      </p:sp>
      <p:sp>
        <p:nvSpPr>
          <p:cNvPr id="17" name="TextBox 16"/>
          <p:cNvSpPr txBox="1"/>
          <p:nvPr/>
        </p:nvSpPr>
        <p:spPr>
          <a:xfrm>
            <a:off x="7086600" y="3108960"/>
            <a:ext cx="4343400" cy="1143000"/>
          </a:xfrm>
          <a:prstGeom prst="rect">
            <a:avLst/>
          </a:prstGeom>
          <a:noFill/>
        </p:spPr>
        <p:txBody>
          <a:bodyPr wrap="square">
            <a:spAutoFit/>
          </a:bodyPr>
          <a:lstStyle/>
          <a:p>
            <a:pPr algn="l">
              <a:spcAft>
                <a:spcPts val="300"/>
              </a:spcAft>
            </a:pPr>
            <a:r>
              <a:rPr sz="1500" b="1" i="0">
                <a:solidFill>
                  <a:srgbClr val="1B2A4A"/>
                </a:solidFill>
                <a:latin typeface="Calibri"/>
              </a:rPr>
              <a:t>Continuous streaming</a:t>
            </a:r>
          </a:p>
          <a:p>
            <a:pPr algn="l">
              <a:spcAft>
                <a:spcPts val="600"/>
              </a:spcAft>
            </a:pPr>
            <a:r>
              <a:rPr sz="1250" b="0" i="0">
                <a:solidFill>
                  <a:srgbClr val="222A35"/>
                </a:solidFill>
                <a:latin typeface="Calibri"/>
              </a:rPr>
              <a:t>Promote the NiFi + Kafka path to a fully continuous pipeline beyond batch.</a:t>
            </a:r>
          </a:p>
        </p:txBody>
      </p:sp>
      <p:sp>
        <p:nvSpPr>
          <p:cNvPr id="18" name="Rounded Rectangle 17"/>
          <p:cNvSpPr/>
          <p:nvPr/>
        </p:nvSpPr>
        <p:spPr>
          <a:xfrm>
            <a:off x="640080" y="4471416"/>
            <a:ext cx="5349240" cy="132588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04671" y="4636008"/>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600" b="1" i="0">
                <a:solidFill>
                  <a:srgbClr val="FFFFFF"/>
                </a:solidFill>
                <a:latin typeface="Calibri"/>
              </a:rPr>
              <a:t>5</a:t>
            </a:r>
          </a:p>
        </p:txBody>
      </p:sp>
      <p:sp>
        <p:nvSpPr>
          <p:cNvPr id="20" name="TextBox 19"/>
          <p:cNvSpPr txBox="1"/>
          <p:nvPr/>
        </p:nvSpPr>
        <p:spPr>
          <a:xfrm>
            <a:off x="1508760" y="4590288"/>
            <a:ext cx="4343400" cy="1143000"/>
          </a:xfrm>
          <a:prstGeom prst="rect">
            <a:avLst/>
          </a:prstGeom>
          <a:noFill/>
        </p:spPr>
        <p:txBody>
          <a:bodyPr wrap="square">
            <a:spAutoFit/>
          </a:bodyPr>
          <a:lstStyle/>
          <a:p>
            <a:pPr algn="l">
              <a:spcAft>
                <a:spcPts val="300"/>
              </a:spcAft>
            </a:pPr>
            <a:r>
              <a:rPr sz="1500" b="1" i="0">
                <a:solidFill>
                  <a:srgbClr val="1B2A4A"/>
                </a:solidFill>
                <a:latin typeface="Calibri"/>
              </a:rPr>
              <a:t>Route analysis</a:t>
            </a:r>
          </a:p>
          <a:p>
            <a:pPr algn="l">
              <a:spcAft>
                <a:spcPts val="600"/>
              </a:spcAft>
            </a:pPr>
            <a:r>
              <a:rPr sz="1250" b="0" i="0">
                <a:solidFill>
                  <a:srgbClr val="222A35"/>
                </a:solidFill>
                <a:latin typeface="Calibri"/>
              </a:rPr>
              <a:t>Study transport corridors (e.g. Ankara–Konya) to separate logistics cost from pricing power.</a:t>
            </a:r>
          </a:p>
        </p:txBody>
      </p:sp>
      <p:sp>
        <p:nvSpPr>
          <p:cNvPr id="21" name="Rounded Rectangle 20"/>
          <p:cNvSpPr/>
          <p:nvPr/>
        </p:nvSpPr>
        <p:spPr>
          <a:xfrm>
            <a:off x="6217920" y="4471416"/>
            <a:ext cx="5349240" cy="1325880"/>
          </a:xfrm>
          <a:prstGeom prst="roundRect">
            <a:avLst/>
          </a:prstGeom>
          <a:solidFill>
            <a:srgbClr val="F1F3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382512" y="4636008"/>
            <a:ext cx="502920" cy="502920"/>
          </a:xfrm>
          <a:prstGeom prst="ellipse">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r>
              <a:rPr sz="1600" b="1" i="0">
                <a:solidFill>
                  <a:srgbClr val="FFFFFF"/>
                </a:solidFill>
                <a:latin typeface="Calibri"/>
              </a:rPr>
              <a:t>6</a:t>
            </a:r>
          </a:p>
        </p:txBody>
      </p:sp>
      <p:sp>
        <p:nvSpPr>
          <p:cNvPr id="23" name="TextBox 22"/>
          <p:cNvSpPr txBox="1"/>
          <p:nvPr/>
        </p:nvSpPr>
        <p:spPr>
          <a:xfrm>
            <a:off x="7086600" y="4590288"/>
            <a:ext cx="4343400" cy="1143000"/>
          </a:xfrm>
          <a:prstGeom prst="rect">
            <a:avLst/>
          </a:prstGeom>
          <a:noFill/>
        </p:spPr>
        <p:txBody>
          <a:bodyPr wrap="square">
            <a:spAutoFit/>
          </a:bodyPr>
          <a:lstStyle/>
          <a:p>
            <a:pPr algn="l">
              <a:spcAft>
                <a:spcPts val="300"/>
              </a:spcAft>
            </a:pPr>
            <a:r>
              <a:rPr sz="1500" b="1" i="0">
                <a:solidFill>
                  <a:srgbClr val="1B2A4A"/>
                </a:solidFill>
                <a:latin typeface="Calibri"/>
              </a:rPr>
              <a:t>More cities &amp; products</a:t>
            </a:r>
          </a:p>
          <a:p>
            <a:pPr algn="l">
              <a:spcAft>
                <a:spcPts val="600"/>
              </a:spcAft>
            </a:pPr>
            <a:r>
              <a:rPr sz="1250" b="0" i="0">
                <a:solidFill>
                  <a:srgbClr val="222A35"/>
                </a:solidFill>
                <a:latin typeface="Calibri"/>
              </a:rPr>
              <a:t>Extend real hal coverage beyond 10 cities and deepen the product catalogue.</a:t>
            </a:r>
          </a:p>
        </p:txBody>
      </p:sp>
      <p:sp>
        <p:nvSpPr>
          <p:cNvPr id="24" name="TextBox 23"/>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25" name="TextBox 24"/>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10698480" cy="731520"/>
          </a:xfrm>
          <a:prstGeom prst="rect">
            <a:avLst/>
          </a:prstGeom>
          <a:noFill/>
        </p:spPr>
        <p:txBody>
          <a:bodyPr wrap="square">
            <a:spAutoFit/>
          </a:bodyPr>
          <a:lstStyle/>
          <a:p>
            <a:pPr algn="l">
              <a:spcAft>
                <a:spcPts val="600"/>
              </a:spcAft>
            </a:pPr>
            <a:r>
              <a:rPr sz="3000" b="1" i="0">
                <a:solidFill>
                  <a:srgbClr val="FFFFFF"/>
                </a:solidFill>
                <a:latin typeface="Calibri"/>
              </a:rPr>
              <a:t>References &amp; Closing</a:t>
            </a:r>
          </a:p>
        </p:txBody>
      </p:sp>
      <p:sp>
        <p:nvSpPr>
          <p:cNvPr id="4" name="Rectangle 3"/>
          <p:cNvSpPr/>
          <p:nvPr/>
        </p:nvSpPr>
        <p:spPr>
          <a:xfrm>
            <a:off x="731520" y="1188720"/>
            <a:ext cx="2743200" cy="54864"/>
          </a:xfrm>
          <a:prstGeom prst="rect">
            <a:avLst/>
          </a:prstGeom>
          <a:solidFill>
            <a:srgbClr val="2A9D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417320"/>
            <a:ext cx="10607040" cy="2743200"/>
          </a:xfrm>
          <a:prstGeom prst="rect">
            <a:avLst/>
          </a:prstGeom>
          <a:noFill/>
        </p:spPr>
        <p:txBody>
          <a:bodyPr wrap="square">
            <a:spAutoFit/>
          </a:bodyPr>
          <a:lstStyle/>
          <a:p>
            <a:pPr algn="l">
              <a:spcAft>
                <a:spcPts val="1000"/>
              </a:spcAft>
            </a:pPr>
            <a:r>
              <a:rPr sz="1400" b="1">
                <a:solidFill>
                  <a:srgbClr val="2A9D8F"/>
                </a:solidFill>
              </a:rPr>
              <a:t>▪  </a:t>
            </a:r>
            <a:r>
              <a:rPr sz="1400" b="0" i="0">
                <a:solidFill>
                  <a:srgbClr val="D7DEE8"/>
                </a:solidFill>
                <a:latin typeface="Calibri"/>
              </a:rPr>
              <a:t>Peltzman, S. (2000). Prices Rise Faster Than They Fall. Journal of Political Economy, 108(3).</a:t>
            </a:r>
          </a:p>
          <a:p>
            <a:pPr algn="l">
              <a:spcAft>
                <a:spcPts val="1000"/>
              </a:spcAft>
            </a:pPr>
            <a:r>
              <a:rPr sz="1400" b="1">
                <a:solidFill>
                  <a:srgbClr val="2A9D8F"/>
                </a:solidFill>
              </a:rPr>
              <a:t>▪  </a:t>
            </a:r>
            <a:r>
              <a:rPr sz="1400" b="0" i="0">
                <a:solidFill>
                  <a:srgbClr val="D7DEE8"/>
                </a:solidFill>
                <a:latin typeface="Calibri"/>
              </a:rPr>
              <a:t>Bacon, R. W. (1991). Rockets and feathers: asymmetric speed of adjustment of UK retail gasoline prices. Energy Economics, 13(3).</a:t>
            </a:r>
          </a:p>
          <a:p>
            <a:pPr algn="l">
              <a:spcAft>
                <a:spcPts val="1000"/>
              </a:spcAft>
            </a:pPr>
            <a:r>
              <a:rPr sz="1400" b="1">
                <a:solidFill>
                  <a:srgbClr val="2A9D8F"/>
                </a:solidFill>
              </a:rPr>
              <a:t>▪  </a:t>
            </a:r>
            <a:r>
              <a:rPr sz="1400" b="0" i="0">
                <a:solidFill>
                  <a:srgbClr val="D7DEE8"/>
                </a:solidFill>
                <a:latin typeface="Calibri"/>
              </a:rPr>
              <a:t>Meyer, J. &amp; von Cramon-Taubadel, S. (2004). Asymmetric Price Transmission: A Survey. Journal of Agricultural Economics, 55(3).</a:t>
            </a:r>
          </a:p>
          <a:p>
            <a:pPr algn="l">
              <a:spcAft>
                <a:spcPts val="1000"/>
              </a:spcAft>
            </a:pPr>
            <a:r>
              <a:rPr sz="1400" b="1">
                <a:solidFill>
                  <a:srgbClr val="2A9D8F"/>
                </a:solidFill>
              </a:rPr>
              <a:t>▪  </a:t>
            </a:r>
            <a:r>
              <a:rPr sz="1400" b="0" i="0">
                <a:solidFill>
                  <a:srgbClr val="D7DEE8"/>
                </a:solidFill>
                <a:latin typeface="Calibri"/>
              </a:rPr>
              <a:t>Taylor, S. J. &amp; Letham, B. (2018). Forecasting at Scale (Prophet). The American Statistician, 72(1).</a:t>
            </a:r>
          </a:p>
          <a:p>
            <a:pPr algn="l">
              <a:spcAft>
                <a:spcPts val="1000"/>
              </a:spcAft>
            </a:pPr>
            <a:r>
              <a:rPr sz="1400" b="1">
                <a:solidFill>
                  <a:srgbClr val="2A9D8F"/>
                </a:solidFill>
              </a:rPr>
              <a:t>▪  </a:t>
            </a:r>
            <a:r>
              <a:rPr sz="1400" b="0" i="0">
                <a:solidFill>
                  <a:srgbClr val="D7DEE8"/>
                </a:solidFill>
                <a:latin typeface="Calibri"/>
              </a:rPr>
              <a:t>Data: marketfiyati.org.tr · İBB Tarım &amp; Harman Hal · GDELT Project · EPİAŞ Transparency · TCMB EVDS · Open-Meteo · EPDK · Yahoo Finance.</a:t>
            </a:r>
          </a:p>
        </p:txBody>
      </p:sp>
      <p:sp>
        <p:nvSpPr>
          <p:cNvPr id="6" name="Rectangle 5"/>
          <p:cNvSpPr/>
          <p:nvPr/>
        </p:nvSpPr>
        <p:spPr>
          <a:xfrm>
            <a:off x="777240" y="4526280"/>
            <a:ext cx="10607040" cy="36576"/>
          </a:xfrm>
          <a:prstGeom prst="rect">
            <a:avLst/>
          </a:prstGeom>
          <a:solidFill>
            <a:srgbClr val="3A49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4754880"/>
            <a:ext cx="10607040" cy="914400"/>
          </a:xfrm>
          <a:prstGeom prst="rect">
            <a:avLst/>
          </a:prstGeom>
          <a:noFill/>
        </p:spPr>
        <p:txBody>
          <a:bodyPr wrap="square">
            <a:spAutoFit/>
          </a:bodyPr>
          <a:lstStyle/>
          <a:p>
            <a:pPr algn="l">
              <a:spcAft>
                <a:spcPts val="600"/>
              </a:spcAft>
            </a:pPr>
            <a:r>
              <a:rPr sz="3400" b="1" i="0">
                <a:solidFill>
                  <a:srgbClr val="FFFFFF"/>
                </a:solidFill>
                <a:latin typeface="Calibri"/>
              </a:rPr>
              <a:t>Thank you</a:t>
            </a:r>
          </a:p>
          <a:p>
            <a:pPr algn="l">
              <a:spcAft>
                <a:spcPts val="600"/>
              </a:spcAft>
            </a:pPr>
            <a:r>
              <a:rPr sz="1700" b="1" i="0">
                <a:solidFill>
                  <a:srgbClr val="2A9D8F"/>
                </a:solidFill>
                <a:latin typeface="Calibri"/>
              </a:rPr>
              <a:t>Azmi Yağlı · Abdullah Zengin · Hidayet Ersin Dursun — questions welcome.</a:t>
            </a:r>
          </a:p>
        </p:txBody>
      </p:sp>
      <p:sp>
        <p:nvSpPr>
          <p:cNvPr id="8" name="TextBox 7"/>
          <p:cNvSpPr txBox="1"/>
          <p:nvPr/>
        </p:nvSpPr>
        <p:spPr>
          <a:xfrm>
            <a:off x="777240" y="5989320"/>
            <a:ext cx="10607040" cy="548640"/>
          </a:xfrm>
          <a:prstGeom prst="rect">
            <a:avLst/>
          </a:prstGeom>
          <a:noFill/>
        </p:spPr>
        <p:txBody>
          <a:bodyPr wrap="square">
            <a:spAutoFit/>
          </a:bodyPr>
          <a:lstStyle/>
          <a:p>
            <a:pPr algn="l">
              <a:spcAft>
                <a:spcPts val="600"/>
              </a:spcAft>
            </a:pPr>
            <a:r>
              <a:rPr sz="1200" b="0" i="1">
                <a:solidFill>
                  <a:srgbClr val="9AA6B8"/>
                </a:solidFill>
                <a:latin typeface="Calibri"/>
              </a:rPr>
              <a:t>Disclaimer: AI assistance was used in the development and preparation of this project (AI assist kullanıldı).</a:t>
            </a:r>
          </a:p>
        </p:txBody>
      </p:sp>
      <p:sp>
        <p:nvSpPr>
          <p:cNvPr id="9" name="TextBox 8"/>
          <p:cNvSpPr txBox="1"/>
          <p:nvPr/>
        </p:nvSpPr>
        <p:spPr>
          <a:xfrm>
            <a:off x="502920" y="6437376"/>
            <a:ext cx="8229600" cy="365760"/>
          </a:xfrm>
          <a:prstGeom prst="rect">
            <a:avLst/>
          </a:prstGeom>
          <a:noFill/>
        </p:spPr>
        <p:txBody>
          <a:bodyPr wrap="square">
            <a:spAutoFit/>
          </a:bodyPr>
          <a:lstStyle/>
          <a:p>
            <a:pPr algn="l">
              <a:spcAft>
                <a:spcPts val="600"/>
              </a:spcAft>
            </a:pPr>
            <a:r>
              <a:rPr sz="1000" b="0" i="0">
                <a:solidFill>
                  <a:srgbClr val="5B6677"/>
                </a:solidFill>
                <a:latin typeface="Calibri"/>
              </a:rPr>
              <a:t>GıdaRadar  ·  Türkiye Food Supply Chain Transparency Engine</a:t>
            </a:r>
          </a:p>
        </p:txBody>
      </p:sp>
      <p:sp>
        <p:nvSpPr>
          <p:cNvPr id="10" name="TextBox 9"/>
          <p:cNvSpPr txBox="1"/>
          <p:nvPr/>
        </p:nvSpPr>
        <p:spPr>
          <a:xfrm>
            <a:off x="11155680" y="6437376"/>
            <a:ext cx="822960" cy="365760"/>
          </a:xfrm>
          <a:prstGeom prst="rect">
            <a:avLst/>
          </a:prstGeom>
          <a:noFill/>
        </p:spPr>
        <p:txBody>
          <a:bodyPr wrap="square">
            <a:spAutoFit/>
          </a:bodyPr>
          <a:lstStyle/>
          <a:p>
            <a:pPr algn="r">
              <a:spcAft>
                <a:spcPts val="600"/>
              </a:spcAft>
            </a:pPr>
            <a:r>
              <a:rPr sz="1000" b="0" i="0">
                <a:solidFill>
                  <a:srgbClr val="5B6677"/>
                </a:solidFill>
                <a:latin typeface="Calibri"/>
              </a:rPr>
              <a:t>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